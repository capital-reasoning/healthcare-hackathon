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Open with the death stat. Let it land. Then explain WHY.
"4,620 British Columbians died on medical waitlists last year. Not waiting for cutting-edge treatment. Waiting for a screening, a follow-up, a referral — routine clinical actions that someone should have flagged months earlier. But nobody did. The patient data was there. The guidelines were there. What's missing is anything that connects the two and tells a clinician: this patient needs this action, right now. [reveal stats] 352 thousand waiting for a family doctor. 250 ER closures last year. 6.5 million Canadians with nobody watching their preventive care at all. 32 weeks from specialist referral to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1:00] Product reveal — clinician side.
"This is BestPath. For every patient in a clinic's panel, it finds the single highest-value action — the screening, medication, referral most likely to prevent an ER visit — and surfaces it with cited evidence. Red: overdue and high risk, act now. Yellow: overdue, lower risk. Green: up to date. And the AI agent doesn't just give you text — it renders real interactive UI. Tables, charts, patient cards. Ask it anything about your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1:25] The other half of the product.
"Now, the other side. 6.5 million Canadians don't have a family doctor. Nobody is watching their preventive care. BestPath gives them a self-service care navigator. Enter your health info conversationally — whatever you have. Same engine underneath. But it doesn't just say 'see a doctor.' It routes you to the right level of care. A pharmacist can monitor your blood pressure. A dietitian can help with diabetes management. You need a walk-in for this referral. Smarter routing, faster help, less system load. Everyone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1:55] Walk through the pipeline. Emphasize the deterministic comparator.
"Here's the engine. Patient data goes in. We build a Risk Confluence Vector: everything that says this patient might be heading for an emergency. That queries our knowledge base — BC clinical guidelines, screening protocols — via RAG. Claude reads the patient data alongside the guidelines and structures the output. But here's the key: the actual decision — is this patient overdue? how urgent? — that's pure arithmetic. No AI on the critical path. [beat] Our AI doesn't replace doctors. It replaces the sticky note that says 'check Mrs. Chen's labs, question mark question mark question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 2:50] THIS IS THE DEMO. 4 beats:
1. Dashboard — red/yellow/green triage across the panel. "2,000 patients, triaged automatically."
2. Drill into a red patient — RCV breakdown, overdue actions, cited evidence.
3. Agent query — "Who needs an HbA1c recheck?" — live table with citations.
4. Patient view — enter basic health info, show routing recommendation.
If live demo fails, screenshots. Never debug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 3:10] Quick hits. Let the grid do the work.
"This isn't a prototype. Real data, same engine works against any EHR via FHIR. Every recommendation cited, every status calculated. The UX mirrors how clinicians already think. Existing tools are dashboards or chatbots — never both. BestPath combines proactive risk triage with generative clinical UI. BC is investing 2.8 billion in healthcare. This is where it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 — 3:25] Land the close. Eye contact.
"Four thousand six hundred and twenty people died on BC waitlists last year. BestPath makes sure the next one gets flagged before it's too late. We're Capital Reasoning. Thank you."
[Stop talking. Let the silence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ESTPATH">
    <p:bg>
      <p:bgPr>
        <a:solidFill>
          <a:srgbClr val="0F1B2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320040"/>
            <a:ext cx="6400800" cy="274320"/>
          </a:xfrm>
          <a:prstGeom prst="rect">
            <a:avLst/>
          </a:prstGeom>
          <a:noFill/>
          <a:ln/>
        </p:spPr>
        <p:txBody>
          <a:bodyPr wrap="square" rtlCol="0" anchor="ctr"/>
          <a:lstStyle/>
          <a:p>
            <a:pPr indent="0" marL="0">
              <a:buNone/>
            </a:pPr>
            <a:r>
              <a:rPr lang="en-US" sz="900" b="1" dirty="0">
                <a:solidFill>
                  <a:srgbClr val="0FAFAF"/>
                </a:solidFill>
                <a:latin typeface="Inter" pitchFamily="34" charset="0"/>
                <a:ea typeface="Inter" pitchFamily="34" charset="-122"/>
                <a:cs typeface="Inter" pitchFamily="34" charset="-120"/>
              </a:rPr>
              <a:t>BUILDERSVAULT.AI HEALTHCARE &amp; AI HACKATHON</a:t>
            </a:r>
            <a:endParaRPr lang="en-US" sz="900" dirty="0"/>
          </a:p>
        </p:txBody>
      </p:sp>
      <p:sp>
        <p:nvSpPr>
          <p:cNvPr id="3" name="Text 1"/>
          <p:cNvSpPr/>
          <p:nvPr/>
        </p:nvSpPr>
        <p:spPr>
          <a:xfrm>
            <a:off x="7315200" y="320040"/>
            <a:ext cx="4114800" cy="274320"/>
          </a:xfrm>
          <a:prstGeom prst="rect">
            <a:avLst/>
          </a:prstGeom>
          <a:noFill/>
          <a:ln/>
        </p:spPr>
        <p:txBody>
          <a:bodyPr wrap="square" rtlCol="0" anchor="ctr"/>
          <a:lstStyle/>
          <a:p>
            <a:pPr algn="r" indent="0" marL="0">
              <a:buNone/>
            </a:pPr>
            <a:r>
              <a:rPr lang="en-US" sz="900" dirty="0">
                <a:solidFill>
                  <a:srgbClr val="8B95A5"/>
                </a:solidFill>
                <a:latin typeface="Inter" pitchFamily="34" charset="0"/>
                <a:ea typeface="Inter" pitchFamily="34" charset="-122"/>
                <a:cs typeface="Inter" pitchFamily="34" charset="-120"/>
              </a:rPr>
              <a:t>Capital Reasoning  ·  March 2026</a:t>
            </a:r>
            <a:endParaRPr lang="en-US" sz="900" dirty="0"/>
          </a:p>
        </p:txBody>
      </p:sp>
      <p:sp>
        <p:nvSpPr>
          <p:cNvPr id="4" name="Text 2"/>
          <p:cNvSpPr/>
          <p:nvPr/>
        </p:nvSpPr>
        <p:spPr>
          <a:xfrm>
            <a:off x="685800" y="777240"/>
            <a:ext cx="10789920" cy="640080"/>
          </a:xfrm>
          <a:prstGeom prst="rect">
            <a:avLst/>
          </a:prstGeom>
          <a:noFill/>
          <a:ln/>
        </p:spPr>
        <p:txBody>
          <a:bodyPr wrap="square" rtlCol="0" anchor="ctr"/>
          <a:lstStyle/>
          <a:p>
            <a:pPr indent="0" marL="0">
              <a:lnSpc>
                <a:spcPct val="120000"/>
              </a:lnSpc>
              <a:buNone/>
            </a:pPr>
            <a:r>
              <a:rPr lang="en-US" sz="2800" b="1" dirty="0">
                <a:solidFill>
                  <a:srgbClr val="C93B3B"/>
                </a:solidFill>
                <a:latin typeface="Inter" pitchFamily="34" charset="0"/>
                <a:ea typeface="Inter" pitchFamily="34" charset="-122"/>
                <a:cs typeface="Inter" pitchFamily="34" charset="-120"/>
              </a:rPr>
              <a:t>4,620</a:t>
            </a:r>
            <a:pPr indent="0" marL="0">
              <a:lnSpc>
                <a:spcPct val="120000"/>
              </a:lnSpc>
              <a:buNone/>
            </a:pPr>
            <a:r>
              <a:rPr lang="en-US" sz="2800" b="1" dirty="0">
                <a:solidFill>
                  <a:srgbClr val="FAFAF8"/>
                </a:solidFill>
                <a:latin typeface="Inter" pitchFamily="34" charset="0"/>
                <a:ea typeface="Inter" pitchFamily="34" charset="-122"/>
                <a:cs typeface="Inter" pitchFamily="34" charset="-120"/>
              </a:rPr>
              <a:t> British Columbians died on medical waitlists last year.</a:t>
            </a:r>
            <a:endParaRPr lang="en-US" sz="2800" dirty="0"/>
          </a:p>
        </p:txBody>
      </p:sp>
      <p:sp>
        <p:nvSpPr>
          <p:cNvPr id="5" name="Text 3"/>
          <p:cNvSpPr/>
          <p:nvPr/>
        </p:nvSpPr>
        <p:spPr>
          <a:xfrm>
            <a:off x="685800" y="1508760"/>
            <a:ext cx="10789920" cy="822960"/>
          </a:xfrm>
          <a:prstGeom prst="rect">
            <a:avLst/>
          </a:prstGeom>
          <a:noFill/>
          <a:ln/>
        </p:spPr>
        <p:txBody>
          <a:bodyPr wrap="square" rtlCol="0" anchor="ctr"/>
          <a:lstStyle/>
          <a:p>
            <a:pPr indent="0" marL="0">
              <a:lnSpc>
                <a:spcPct val="140000"/>
              </a:lnSpc>
              <a:buNone/>
            </a:pPr>
            <a:r>
              <a:rPr lang="en-US" sz="2000" b="1" dirty="0">
                <a:solidFill>
                  <a:srgbClr val="FAFAF8"/>
                </a:solidFill>
                <a:latin typeface="Inter" pitchFamily="34" charset="0"/>
                <a:ea typeface="Inter" pitchFamily="34" charset="-122"/>
                <a:cs typeface="Inter" pitchFamily="34" charset="-120"/>
              </a:rPr>
              <a:t>Not waiting for experimental treatment. Waiting for a screening, a follow-up, a referral — </a:t>
            </a:r>
            <a:pPr indent="0" marL="0">
              <a:lnSpc>
                <a:spcPct val="130000"/>
              </a:lnSpc>
              <a:buNone/>
            </a:pPr>
            <a:r>
              <a:rPr lang="en-US" sz="2000" b="1" dirty="0">
                <a:solidFill>
                  <a:srgbClr val="0FAFAF"/>
                </a:solidFill>
                <a:latin typeface="Inter" pitchFamily="34" charset="0"/>
                <a:ea typeface="Inter" pitchFamily="34" charset="-122"/>
                <a:cs typeface="Inter" pitchFamily="34" charset="-120"/>
              </a:rPr>
              <a:t>routine actions</a:t>
            </a:r>
            <a:pPr indent="0" marL="0">
              <a:lnSpc>
                <a:spcPct val="140000"/>
              </a:lnSpc>
              <a:buNone/>
            </a:pPr>
            <a:r>
              <a:rPr lang="en-US" sz="2000" b="1" dirty="0">
                <a:solidFill>
                  <a:srgbClr val="FAFAF8"/>
                </a:solidFill>
                <a:latin typeface="Inter" pitchFamily="34" charset="0"/>
                <a:ea typeface="Inter" pitchFamily="34" charset="-122"/>
                <a:cs typeface="Inter" pitchFamily="34" charset="-120"/>
              </a:rPr>
              <a:t> someone should have flagged months earlier.</a:t>
            </a:r>
            <a:endParaRPr lang="en-US" sz="2000" dirty="0"/>
          </a:p>
        </p:txBody>
      </p:sp>
      <p:sp>
        <p:nvSpPr>
          <p:cNvPr id="6" name="Text 4"/>
          <p:cNvSpPr/>
          <p:nvPr/>
        </p:nvSpPr>
        <p:spPr>
          <a:xfrm>
            <a:off x="685800" y="2468880"/>
            <a:ext cx="10789920" cy="457200"/>
          </a:xfrm>
          <a:prstGeom prst="rect">
            <a:avLst/>
          </a:prstGeom>
          <a:noFill/>
          <a:ln/>
        </p:spPr>
        <p:txBody>
          <a:bodyPr wrap="square" rtlCol="0" anchor="ctr"/>
          <a:lstStyle/>
          <a:p>
            <a:pPr indent="0" marL="0">
              <a:buNone/>
            </a:pPr>
            <a:r>
              <a:rPr lang="en-US" sz="1500" dirty="0">
                <a:solidFill>
                  <a:srgbClr val="8B95A5"/>
                </a:solidFill>
                <a:latin typeface="Inter" pitchFamily="34" charset="0"/>
                <a:ea typeface="Inter" pitchFamily="34" charset="-122"/>
                <a:cs typeface="Inter" pitchFamily="34" charset="-120"/>
              </a:rPr>
              <a:t>The patient data exists. The clinical guidelines exist. What's missing is anything that </a:t>
            </a:r>
            <a:pPr indent="0" marL="0">
              <a:buNone/>
            </a:pPr>
            <a:r>
              <a:rPr lang="en-US" sz="1500" b="1" dirty="0">
                <a:solidFill>
                  <a:srgbClr val="FAFAF8"/>
                </a:solidFill>
                <a:latin typeface="Inter" pitchFamily="34" charset="0"/>
                <a:ea typeface="Inter" pitchFamily="34" charset="-122"/>
                <a:cs typeface="Inter" pitchFamily="34" charset="-120"/>
              </a:rPr>
              <a:t>connects the two</a:t>
            </a:r>
            <a:pPr indent="0" marL="0">
              <a:buNone/>
            </a:pPr>
            <a:r>
              <a:rPr lang="en-US" sz="1500" dirty="0">
                <a:solidFill>
                  <a:srgbClr val="8B95A5"/>
                </a:solidFill>
                <a:latin typeface="Inter" pitchFamily="34" charset="0"/>
                <a:ea typeface="Inter" pitchFamily="34" charset="-122"/>
                <a:cs typeface="Inter" pitchFamily="34" charset="-120"/>
              </a:rPr>
              <a:t> — and tells a clinician what to do, for whom, right now.</a:t>
            </a:r>
            <a:endParaRPr lang="en-US" sz="1500" dirty="0"/>
          </a:p>
        </p:txBody>
      </p:sp>
      <p:sp>
        <p:nvSpPr>
          <p:cNvPr id="7" name="Shape 5"/>
          <p:cNvSpPr/>
          <p:nvPr/>
        </p:nvSpPr>
        <p:spPr>
          <a:xfrm>
            <a:off x="640080" y="3200400"/>
            <a:ext cx="41148" cy="1097280"/>
          </a:xfrm>
          <a:prstGeom prst="rect">
            <a:avLst/>
          </a:prstGeom>
          <a:solidFill>
            <a:srgbClr val="0B8585"/>
          </a:solidFill>
          <a:ln/>
        </p:spPr>
      </p:sp>
      <p:sp>
        <p:nvSpPr>
          <p:cNvPr id="8" name="Shape 6"/>
          <p:cNvSpPr/>
          <p:nvPr/>
        </p:nvSpPr>
        <p:spPr>
          <a:xfrm>
            <a:off x="694944" y="3200400"/>
            <a:ext cx="5029200" cy="1097280"/>
          </a:xfrm>
          <a:prstGeom prst="roundRect">
            <a:avLst>
              <a:gd name="adj" fmla="val 5000"/>
            </a:avLst>
          </a:prstGeom>
          <a:solidFill>
            <a:srgbClr val="0B8585">
              <a:alpha val="6000"/>
            </a:srgbClr>
          </a:solidFill>
          <a:ln/>
        </p:spPr>
      </p:sp>
      <p:sp>
        <p:nvSpPr>
          <p:cNvPr id="9" name="Text 7"/>
          <p:cNvSpPr/>
          <p:nvPr/>
        </p:nvSpPr>
        <p:spPr>
          <a:xfrm>
            <a:off x="914400" y="3218688"/>
            <a:ext cx="4572000" cy="594360"/>
          </a:xfrm>
          <a:prstGeom prst="rect">
            <a:avLst/>
          </a:prstGeom>
          <a:noFill/>
          <a:ln/>
        </p:spPr>
        <p:txBody>
          <a:bodyPr wrap="square" rtlCol="0" anchor="b"/>
          <a:lstStyle/>
          <a:p>
            <a:pPr indent="0" marL="0">
              <a:buNone/>
            </a:pPr>
            <a:r>
              <a:rPr lang="en-US" sz="3600" b="1" dirty="0">
                <a:solidFill>
                  <a:srgbClr val="C93B3B"/>
                </a:solidFill>
                <a:latin typeface="Inter" pitchFamily="34" charset="0"/>
                <a:ea typeface="Inter" pitchFamily="34" charset="-122"/>
                <a:cs typeface="Inter" pitchFamily="34" charset="-120"/>
              </a:rPr>
              <a:t>352K</a:t>
            </a:r>
            <a:endParaRPr lang="en-US" sz="3600" dirty="0"/>
          </a:p>
        </p:txBody>
      </p:sp>
      <p:sp>
        <p:nvSpPr>
          <p:cNvPr id="10" name="Text 8"/>
          <p:cNvSpPr/>
          <p:nvPr/>
        </p:nvSpPr>
        <p:spPr>
          <a:xfrm>
            <a:off x="914400" y="3858768"/>
            <a:ext cx="4572000" cy="365760"/>
          </a:xfrm>
          <a:prstGeom prst="rect">
            <a:avLst/>
          </a:prstGeom>
          <a:noFill/>
          <a:ln/>
        </p:spPr>
        <p:txBody>
          <a:bodyPr wrap="square" rtlCol="0" anchor="ctr"/>
          <a:lstStyle/>
          <a:p>
            <a:pPr indent="0" marL="0">
              <a:lnSpc>
                <a:spcPct val="130000"/>
              </a:lnSpc>
              <a:buNone/>
            </a:pPr>
            <a:r>
              <a:rPr lang="en-US" sz="1200" dirty="0">
                <a:solidFill>
                  <a:srgbClr val="8B95A5"/>
                </a:solidFill>
                <a:latin typeface="Inter" pitchFamily="34" charset="0"/>
                <a:ea typeface="Inter" pitchFamily="34" charset="-122"/>
                <a:cs typeface="Inter" pitchFamily="34" charset="-120"/>
              </a:rPr>
              <a:t>Waiting for a family doctor in BC</a:t>
            </a:r>
            <a:endParaRPr lang="en-US" sz="1200" dirty="0"/>
          </a:p>
        </p:txBody>
      </p:sp>
      <p:sp>
        <p:nvSpPr>
          <p:cNvPr id="11" name="Shape 9"/>
          <p:cNvSpPr/>
          <p:nvPr/>
        </p:nvSpPr>
        <p:spPr>
          <a:xfrm>
            <a:off x="6217920" y="3200400"/>
            <a:ext cx="41148" cy="1097280"/>
          </a:xfrm>
          <a:prstGeom prst="rect">
            <a:avLst/>
          </a:prstGeom>
          <a:solidFill>
            <a:srgbClr val="0B8585"/>
          </a:solidFill>
          <a:ln/>
        </p:spPr>
      </p:sp>
      <p:sp>
        <p:nvSpPr>
          <p:cNvPr id="12" name="Shape 10"/>
          <p:cNvSpPr/>
          <p:nvPr/>
        </p:nvSpPr>
        <p:spPr>
          <a:xfrm>
            <a:off x="6272784" y="3200400"/>
            <a:ext cx="5029200" cy="1097280"/>
          </a:xfrm>
          <a:prstGeom prst="roundRect">
            <a:avLst>
              <a:gd name="adj" fmla="val 5000"/>
            </a:avLst>
          </a:prstGeom>
          <a:solidFill>
            <a:srgbClr val="0B8585">
              <a:alpha val="6000"/>
            </a:srgbClr>
          </a:solidFill>
          <a:ln/>
        </p:spPr>
      </p:sp>
      <p:sp>
        <p:nvSpPr>
          <p:cNvPr id="13" name="Text 11"/>
          <p:cNvSpPr/>
          <p:nvPr/>
        </p:nvSpPr>
        <p:spPr>
          <a:xfrm>
            <a:off x="6492240" y="3218688"/>
            <a:ext cx="4572000" cy="594360"/>
          </a:xfrm>
          <a:prstGeom prst="rect">
            <a:avLst/>
          </a:prstGeom>
          <a:noFill/>
          <a:ln/>
        </p:spPr>
        <p:txBody>
          <a:bodyPr wrap="square" rtlCol="0" anchor="b"/>
          <a:lstStyle/>
          <a:p>
            <a:pPr indent="0" marL="0">
              <a:buNone/>
            </a:pPr>
            <a:r>
              <a:rPr lang="en-US" sz="3600" b="1" dirty="0">
                <a:solidFill>
                  <a:srgbClr val="C93B3B"/>
                </a:solidFill>
                <a:latin typeface="Inter" pitchFamily="34" charset="0"/>
                <a:ea typeface="Inter" pitchFamily="34" charset="-122"/>
                <a:cs typeface="Inter" pitchFamily="34" charset="-120"/>
              </a:rPr>
              <a:t>250+</a:t>
            </a:r>
            <a:endParaRPr lang="en-US" sz="3600" dirty="0"/>
          </a:p>
        </p:txBody>
      </p:sp>
      <p:sp>
        <p:nvSpPr>
          <p:cNvPr id="14" name="Text 12"/>
          <p:cNvSpPr/>
          <p:nvPr/>
        </p:nvSpPr>
        <p:spPr>
          <a:xfrm>
            <a:off x="6492240" y="3858768"/>
            <a:ext cx="4572000" cy="365760"/>
          </a:xfrm>
          <a:prstGeom prst="rect">
            <a:avLst/>
          </a:prstGeom>
          <a:noFill/>
          <a:ln/>
        </p:spPr>
        <p:txBody>
          <a:bodyPr wrap="square" rtlCol="0" anchor="ctr"/>
          <a:lstStyle/>
          <a:p>
            <a:pPr indent="0" marL="0">
              <a:lnSpc>
                <a:spcPct val="130000"/>
              </a:lnSpc>
              <a:buNone/>
            </a:pPr>
            <a:r>
              <a:rPr lang="en-US" sz="1200" dirty="0">
                <a:solidFill>
                  <a:srgbClr val="8B95A5"/>
                </a:solidFill>
                <a:latin typeface="Inter" pitchFamily="34" charset="0"/>
                <a:ea typeface="Inter" pitchFamily="34" charset="-122"/>
                <a:cs typeface="Inter" pitchFamily="34" charset="-120"/>
              </a:rPr>
              <a:t>BC emergency rooms closed in 2025</a:t>
            </a:r>
            <a:endParaRPr lang="en-US" sz="1200" dirty="0"/>
          </a:p>
        </p:txBody>
      </p:sp>
      <p:sp>
        <p:nvSpPr>
          <p:cNvPr id="15" name="Shape 13"/>
          <p:cNvSpPr/>
          <p:nvPr/>
        </p:nvSpPr>
        <p:spPr>
          <a:xfrm>
            <a:off x="640080" y="4572000"/>
            <a:ext cx="41148" cy="1097280"/>
          </a:xfrm>
          <a:prstGeom prst="rect">
            <a:avLst/>
          </a:prstGeom>
          <a:solidFill>
            <a:srgbClr val="0B8585"/>
          </a:solidFill>
          <a:ln/>
        </p:spPr>
      </p:sp>
      <p:sp>
        <p:nvSpPr>
          <p:cNvPr id="16" name="Shape 14"/>
          <p:cNvSpPr/>
          <p:nvPr/>
        </p:nvSpPr>
        <p:spPr>
          <a:xfrm>
            <a:off x="694944" y="4572000"/>
            <a:ext cx="5029200" cy="1097280"/>
          </a:xfrm>
          <a:prstGeom prst="roundRect">
            <a:avLst>
              <a:gd name="adj" fmla="val 5000"/>
            </a:avLst>
          </a:prstGeom>
          <a:solidFill>
            <a:srgbClr val="0B8585">
              <a:alpha val="6000"/>
            </a:srgbClr>
          </a:solidFill>
          <a:ln/>
        </p:spPr>
      </p:sp>
      <p:sp>
        <p:nvSpPr>
          <p:cNvPr id="17" name="Text 15"/>
          <p:cNvSpPr/>
          <p:nvPr/>
        </p:nvSpPr>
        <p:spPr>
          <a:xfrm>
            <a:off x="914400" y="4590288"/>
            <a:ext cx="4572000" cy="594360"/>
          </a:xfrm>
          <a:prstGeom prst="rect">
            <a:avLst/>
          </a:prstGeom>
          <a:noFill/>
          <a:ln/>
        </p:spPr>
        <p:txBody>
          <a:bodyPr wrap="square" rtlCol="0" anchor="b"/>
          <a:lstStyle/>
          <a:p>
            <a:pPr indent="0" marL="0">
              <a:buNone/>
            </a:pPr>
            <a:r>
              <a:rPr lang="en-US" sz="3600" b="1" dirty="0">
                <a:solidFill>
                  <a:srgbClr val="C27A15"/>
                </a:solidFill>
                <a:latin typeface="Inter" pitchFamily="34" charset="0"/>
                <a:ea typeface="Inter" pitchFamily="34" charset="-122"/>
                <a:cs typeface="Inter" pitchFamily="34" charset="-120"/>
              </a:rPr>
              <a:t>6.5M</a:t>
            </a:r>
            <a:endParaRPr lang="en-US" sz="3600" dirty="0"/>
          </a:p>
        </p:txBody>
      </p:sp>
      <p:sp>
        <p:nvSpPr>
          <p:cNvPr id="18" name="Text 16"/>
          <p:cNvSpPr/>
          <p:nvPr/>
        </p:nvSpPr>
        <p:spPr>
          <a:xfrm>
            <a:off x="914400" y="5230368"/>
            <a:ext cx="4572000" cy="365760"/>
          </a:xfrm>
          <a:prstGeom prst="rect">
            <a:avLst/>
          </a:prstGeom>
          <a:noFill/>
          <a:ln/>
        </p:spPr>
        <p:txBody>
          <a:bodyPr wrap="square" rtlCol="0" anchor="ctr"/>
          <a:lstStyle/>
          <a:p>
            <a:pPr indent="0" marL="0">
              <a:lnSpc>
                <a:spcPct val="130000"/>
              </a:lnSpc>
              <a:buNone/>
            </a:pPr>
            <a:r>
              <a:rPr lang="en-US" sz="1200" dirty="0">
                <a:solidFill>
                  <a:srgbClr val="8B95A5"/>
                </a:solidFill>
                <a:latin typeface="Inter" pitchFamily="34" charset="0"/>
                <a:ea typeface="Inter" pitchFamily="34" charset="-122"/>
                <a:cs typeface="Inter" pitchFamily="34" charset="-120"/>
              </a:rPr>
              <a:t>Canadians with no family doctor at all</a:t>
            </a:r>
            <a:endParaRPr lang="en-US" sz="1200" dirty="0"/>
          </a:p>
        </p:txBody>
      </p:sp>
      <p:sp>
        <p:nvSpPr>
          <p:cNvPr id="19" name="Shape 17"/>
          <p:cNvSpPr/>
          <p:nvPr/>
        </p:nvSpPr>
        <p:spPr>
          <a:xfrm>
            <a:off x="6217920" y="4572000"/>
            <a:ext cx="41148" cy="1097280"/>
          </a:xfrm>
          <a:prstGeom prst="rect">
            <a:avLst/>
          </a:prstGeom>
          <a:solidFill>
            <a:srgbClr val="0B8585"/>
          </a:solidFill>
          <a:ln/>
        </p:spPr>
      </p:sp>
      <p:sp>
        <p:nvSpPr>
          <p:cNvPr id="20" name="Shape 18"/>
          <p:cNvSpPr/>
          <p:nvPr/>
        </p:nvSpPr>
        <p:spPr>
          <a:xfrm>
            <a:off x="6272784" y="4572000"/>
            <a:ext cx="5029200" cy="1097280"/>
          </a:xfrm>
          <a:prstGeom prst="roundRect">
            <a:avLst>
              <a:gd name="adj" fmla="val 5000"/>
            </a:avLst>
          </a:prstGeom>
          <a:solidFill>
            <a:srgbClr val="0B8585">
              <a:alpha val="6000"/>
            </a:srgbClr>
          </a:solidFill>
          <a:ln/>
        </p:spPr>
      </p:sp>
      <p:sp>
        <p:nvSpPr>
          <p:cNvPr id="21" name="Text 19"/>
          <p:cNvSpPr/>
          <p:nvPr/>
        </p:nvSpPr>
        <p:spPr>
          <a:xfrm>
            <a:off x="6492240" y="4590288"/>
            <a:ext cx="4572000" cy="594360"/>
          </a:xfrm>
          <a:prstGeom prst="rect">
            <a:avLst/>
          </a:prstGeom>
          <a:noFill/>
          <a:ln/>
        </p:spPr>
        <p:txBody>
          <a:bodyPr wrap="square" rtlCol="0" anchor="b"/>
          <a:lstStyle/>
          <a:p>
            <a:pPr indent="0" marL="0">
              <a:buNone/>
            </a:pPr>
            <a:r>
              <a:rPr lang="en-US" sz="3600" b="1" dirty="0">
                <a:solidFill>
                  <a:srgbClr val="C27A15"/>
                </a:solidFill>
                <a:latin typeface="Inter" pitchFamily="34" charset="0"/>
                <a:ea typeface="Inter" pitchFamily="34" charset="-122"/>
                <a:cs typeface="Inter" pitchFamily="34" charset="-120"/>
              </a:rPr>
              <a:t>32.2 wks</a:t>
            </a:r>
            <a:endParaRPr lang="en-US" sz="3600" dirty="0"/>
          </a:p>
        </p:txBody>
      </p:sp>
      <p:sp>
        <p:nvSpPr>
          <p:cNvPr id="22" name="Text 20"/>
          <p:cNvSpPr/>
          <p:nvPr/>
        </p:nvSpPr>
        <p:spPr>
          <a:xfrm>
            <a:off x="6492240" y="5230368"/>
            <a:ext cx="4572000" cy="365760"/>
          </a:xfrm>
          <a:prstGeom prst="rect">
            <a:avLst/>
          </a:prstGeom>
          <a:noFill/>
          <a:ln/>
        </p:spPr>
        <p:txBody>
          <a:bodyPr wrap="square" rtlCol="0" anchor="ctr"/>
          <a:lstStyle/>
          <a:p>
            <a:pPr indent="0" marL="0">
              <a:lnSpc>
                <a:spcPct val="130000"/>
              </a:lnSpc>
              <a:buNone/>
            </a:pPr>
            <a:r>
              <a:rPr lang="en-US" sz="1200" dirty="0">
                <a:solidFill>
                  <a:srgbClr val="8B95A5"/>
                </a:solidFill>
                <a:latin typeface="Inter" pitchFamily="34" charset="0"/>
                <a:ea typeface="Inter" pitchFamily="34" charset="-122"/>
                <a:cs typeface="Inter" pitchFamily="34" charset="-120"/>
              </a:rPr>
              <a:t>Specialist referral to treatment — eight months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411480"/>
            <a:ext cx="4572000" cy="32004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CLINICIAN VIEW</a:t>
            </a:r>
            <a:endParaRPr lang="en-US" sz="1000" dirty="0"/>
          </a:p>
        </p:txBody>
      </p:sp>
      <p:sp>
        <p:nvSpPr>
          <p:cNvPr id="3" name="Text 1"/>
          <p:cNvSpPr/>
          <p:nvPr/>
        </p:nvSpPr>
        <p:spPr>
          <a:xfrm>
            <a:off x="685800" y="777240"/>
            <a:ext cx="10515600" cy="640080"/>
          </a:xfrm>
          <a:prstGeom prst="rect">
            <a:avLst/>
          </a:prstGeom>
          <a:noFill/>
          <a:ln/>
        </p:spPr>
        <p:txBody>
          <a:bodyPr wrap="square" rtlCol="0" anchor="ctr"/>
          <a:lstStyle/>
          <a:p>
            <a:pPr indent="0" marL="0">
              <a:buNone/>
            </a:pPr>
            <a:r>
              <a:rPr lang="en-US" sz="3400" b="1" dirty="0">
                <a:solidFill>
                  <a:srgbClr val="FAFAF8"/>
                </a:solidFill>
                <a:latin typeface="Inter" pitchFamily="34" charset="0"/>
                <a:ea typeface="Inter" pitchFamily="34" charset="-122"/>
                <a:cs typeface="Inter" pitchFamily="34" charset="-120"/>
              </a:rPr>
              <a:t>Best</a:t>
            </a:r>
            <a:pPr indent="0" marL="0">
              <a:buNone/>
            </a:pPr>
            <a:r>
              <a:rPr lang="en-US" sz="3400" b="1" dirty="0">
                <a:solidFill>
                  <a:srgbClr val="0FAFAF"/>
                </a:solidFill>
                <a:latin typeface="Inter" pitchFamily="34" charset="0"/>
                <a:ea typeface="Inter" pitchFamily="34" charset="-122"/>
                <a:cs typeface="Inter" pitchFamily="34" charset="-120"/>
              </a:rPr>
              <a:t>Path</a:t>
            </a:r>
            <a:pPr indent="0" marL="0">
              <a:buNone/>
            </a:pPr>
            <a:r>
              <a:rPr lang="en-US" sz="2000" dirty="0">
                <a:solidFill>
                  <a:srgbClr val="8B95A5"/>
                </a:solidFill>
                <a:latin typeface="Inter" pitchFamily="34" charset="0"/>
                <a:ea typeface="Inter" pitchFamily="34" charset="-122"/>
                <a:cs typeface="Inter" pitchFamily="34" charset="-120"/>
              </a:rPr>
              <a:t>  for clinics</a:t>
            </a:r>
            <a:endParaRPr lang="en-US" sz="3400" dirty="0"/>
          </a:p>
        </p:txBody>
      </p:sp>
      <p:sp>
        <p:nvSpPr>
          <p:cNvPr id="4" name="Text 2"/>
          <p:cNvSpPr/>
          <p:nvPr/>
        </p:nvSpPr>
        <p:spPr>
          <a:xfrm>
            <a:off x="685800" y="1554480"/>
            <a:ext cx="10515600" cy="822960"/>
          </a:xfrm>
          <a:prstGeom prst="rect">
            <a:avLst/>
          </a:prstGeom>
          <a:noFill/>
          <a:ln/>
        </p:spPr>
        <p:txBody>
          <a:bodyPr wrap="square" rtlCol="0" anchor="ctr"/>
          <a:lstStyle/>
          <a:p>
            <a:pPr indent="0" marL="0">
              <a:lnSpc>
                <a:spcPct val="140000"/>
              </a:lnSpc>
              <a:buNone/>
            </a:pPr>
            <a:r>
              <a:rPr lang="en-US" sz="1800" b="1" dirty="0">
                <a:solidFill>
                  <a:srgbClr val="FAFAF8"/>
                </a:solidFill>
                <a:latin typeface="Inter" pitchFamily="34" charset="0"/>
                <a:ea typeface="Inter" pitchFamily="34" charset="-122"/>
                <a:cs typeface="Inter" pitchFamily="34" charset="-120"/>
              </a:rPr>
              <a:t>For every patient in a panel: find the </a:t>
            </a:r>
            <a:pPr indent="0" marL="0">
              <a:lnSpc>
                <a:spcPct val="140000"/>
              </a:lnSpc>
              <a:buNone/>
            </a:pPr>
            <a:r>
              <a:rPr lang="en-US" sz="1800" b="1" dirty="0">
                <a:solidFill>
                  <a:srgbClr val="0FAFAF"/>
                </a:solidFill>
                <a:latin typeface="Inter" pitchFamily="34" charset="0"/>
                <a:ea typeface="Inter" pitchFamily="34" charset="-122"/>
                <a:cs typeface="Inter" pitchFamily="34" charset="-120"/>
              </a:rPr>
              <a:t>single highest-value clinical action</a:t>
            </a:r>
            <a:pPr indent="0" marL="0">
              <a:lnSpc>
                <a:spcPct val="140000"/>
              </a:lnSpc>
              <a:buNone/>
            </a:pPr>
            <a:r>
              <a:rPr lang="en-US" sz="1800" b="1" dirty="0">
                <a:solidFill>
                  <a:srgbClr val="FAFAF8"/>
                </a:solidFill>
                <a:latin typeface="Inter" pitchFamily="34" charset="0"/>
                <a:ea typeface="Inter" pitchFamily="34" charset="-122"/>
                <a:cs typeface="Inter" pitchFamily="34" charset="-120"/>
              </a:rPr>
              <a:t> most likely to </a:t>
            </a:r>
            <a:pPr indent="0" marL="0">
              <a:lnSpc>
                <a:spcPct val="140000"/>
              </a:lnSpc>
              <a:buNone/>
            </a:pPr>
            <a:r>
              <a:rPr lang="en-US" sz="1800" b="1" u="sng" dirty="0">
                <a:solidFill>
                  <a:srgbClr val="FAFAF8"/>
                </a:solidFill>
                <a:latin typeface="Inter" pitchFamily="34" charset="0"/>
                <a:ea typeface="Inter" pitchFamily="34" charset="-122"/>
                <a:cs typeface="Inter" pitchFamily="34" charset="-120"/>
              </a:rPr>
              <a:t>prevent an ER visit</a:t>
            </a:r>
            <a:pPr indent="0" marL="0">
              <a:lnSpc>
                <a:spcPct val="140000"/>
              </a:lnSpc>
              <a:buNone/>
            </a:pPr>
            <a:r>
              <a:rPr lang="en-US" sz="1800" b="1" dirty="0">
                <a:solidFill>
                  <a:srgbClr val="FAFAF8"/>
                </a:solidFill>
                <a:latin typeface="Inter" pitchFamily="34" charset="0"/>
                <a:ea typeface="Inter" pitchFamily="34" charset="-122"/>
                <a:cs typeface="Inter" pitchFamily="34" charset="-120"/>
              </a:rPr>
              <a:t>. Surface it with cited evidence. Let clinicians act.</a:t>
            </a:r>
            <a:endParaRPr lang="en-US" sz="1800" dirty="0"/>
          </a:p>
        </p:txBody>
      </p:sp>
      <p:sp>
        <p:nvSpPr>
          <p:cNvPr id="5" name="Shape 3"/>
          <p:cNvSpPr/>
          <p:nvPr/>
        </p:nvSpPr>
        <p:spPr>
          <a:xfrm>
            <a:off x="685800" y="2834640"/>
            <a:ext cx="3200400" cy="1280160"/>
          </a:xfrm>
          <a:prstGeom prst="roundRect">
            <a:avLst>
              <a:gd name="adj" fmla="val 7143"/>
            </a:avLst>
          </a:prstGeom>
          <a:solidFill>
            <a:srgbClr val="C93B3B">
              <a:alpha val="12000"/>
            </a:srgbClr>
          </a:solidFill>
          <a:ln w="12700">
            <a:solidFill>
              <a:srgbClr val="C93B3B">
                <a:alpha val="35000"/>
              </a:srgbClr>
            </a:solidFill>
            <a:prstDash val="solid"/>
          </a:ln>
          <a:effectLst>
            <a:outerShdw sx="100000" sy="100000" kx="0" ky="0" algn="bl" rotWithShape="0" blurRad="127000" dist="50800" dir="16200000">
              <a:srgbClr val="C93B3B">
                <a:alpha val="10000"/>
              </a:srgbClr>
            </a:outerShdw>
          </a:effectLst>
        </p:spPr>
      </p:sp>
      <p:sp>
        <p:nvSpPr>
          <p:cNvPr id="6" name="Text 4"/>
          <p:cNvSpPr/>
          <p:nvPr/>
        </p:nvSpPr>
        <p:spPr>
          <a:xfrm>
            <a:off x="685800" y="2971800"/>
            <a:ext cx="3200400" cy="411480"/>
          </a:xfrm>
          <a:prstGeom prst="rect">
            <a:avLst/>
          </a:prstGeom>
          <a:noFill/>
          <a:ln/>
        </p:spPr>
        <p:txBody>
          <a:bodyPr wrap="square" rtlCol="0" anchor="ctr"/>
          <a:lstStyle/>
          <a:p>
            <a:pPr algn="ctr" indent="0" marL="0">
              <a:buNone/>
            </a:pPr>
            <a:r>
              <a:rPr lang="en-US" sz="2000" b="1" dirty="0">
                <a:solidFill>
                  <a:srgbClr val="C93B3B"/>
                </a:solidFill>
                <a:latin typeface="Inter" pitchFamily="34" charset="0"/>
                <a:ea typeface="Inter" pitchFamily="34" charset="-122"/>
                <a:cs typeface="Inter" pitchFamily="34" charset="-120"/>
              </a:rPr>
              <a:t>Red</a:t>
            </a:r>
            <a:endParaRPr lang="en-US" sz="2000" dirty="0"/>
          </a:p>
        </p:txBody>
      </p:sp>
      <p:sp>
        <p:nvSpPr>
          <p:cNvPr id="7" name="Text 5"/>
          <p:cNvSpPr/>
          <p:nvPr/>
        </p:nvSpPr>
        <p:spPr>
          <a:xfrm>
            <a:off x="685800" y="3383280"/>
            <a:ext cx="3200400" cy="548640"/>
          </a:xfrm>
          <a:prstGeom prst="rect">
            <a:avLst/>
          </a:prstGeom>
          <a:noFill/>
          <a:ln/>
        </p:spPr>
        <p:txBody>
          <a:bodyPr wrap="square" rtlCol="0" anchor="ctr"/>
          <a:lstStyle/>
          <a:p>
            <a:pPr algn="ctr" indent="0" marL="0">
              <a:lnSpc>
                <a:spcPct val="130000"/>
              </a:lnSpc>
              <a:buNone/>
            </a:pPr>
            <a:r>
              <a:rPr lang="en-US" sz="1200" dirty="0">
                <a:solidFill>
                  <a:srgbClr val="8B95A5"/>
                </a:solidFill>
                <a:latin typeface="Inter" pitchFamily="34" charset="0"/>
                <a:ea typeface="Inter" pitchFamily="34" charset="-122"/>
                <a:cs typeface="Inter" pitchFamily="34" charset="-120"/>
              </a:rPr>
              <a:t>Overdue + High Risk</a:t>
            </a:r>
            <a:endParaRPr lang="en-US" sz="1200" dirty="0"/>
          </a:p>
          <a:p>
            <a:pPr algn="ctr" indent="0" marL="0">
              <a:lnSpc>
                <a:spcPct val="130000"/>
              </a:lnSpc>
              <a:buNone/>
            </a:pPr>
            <a:r>
              <a:rPr lang="en-US" sz="1200" dirty="0">
                <a:solidFill>
                  <a:srgbClr val="8B95A5"/>
                </a:solidFill>
                <a:latin typeface="Inter" pitchFamily="34" charset="0"/>
                <a:ea typeface="Inter" pitchFamily="34" charset="-122"/>
                <a:cs typeface="Inter" pitchFamily="34" charset="-120"/>
              </a:rPr>
              <a:t>Act now</a:t>
            </a:r>
            <a:endParaRPr lang="en-US" sz="1200" dirty="0"/>
          </a:p>
        </p:txBody>
      </p:sp>
      <p:sp>
        <p:nvSpPr>
          <p:cNvPr id="8" name="Shape 6"/>
          <p:cNvSpPr/>
          <p:nvPr/>
        </p:nvSpPr>
        <p:spPr>
          <a:xfrm>
            <a:off x="4480560" y="2834640"/>
            <a:ext cx="3200400" cy="1280160"/>
          </a:xfrm>
          <a:prstGeom prst="roundRect">
            <a:avLst>
              <a:gd name="adj" fmla="val 7143"/>
            </a:avLst>
          </a:prstGeom>
          <a:solidFill>
            <a:srgbClr val="C27A15">
              <a:alpha val="12000"/>
            </a:srgbClr>
          </a:solidFill>
          <a:ln w="12700">
            <a:solidFill>
              <a:srgbClr val="C27A15">
                <a:alpha val="35000"/>
              </a:srgbClr>
            </a:solidFill>
            <a:prstDash val="solid"/>
          </a:ln>
          <a:effectLst>
            <a:outerShdw sx="100000" sy="100000" kx="0" ky="0" algn="bl" rotWithShape="0" blurRad="127000" dist="50800" dir="16200000">
              <a:srgbClr val="C27A15">
                <a:alpha val="10000"/>
              </a:srgbClr>
            </a:outerShdw>
          </a:effectLst>
        </p:spPr>
      </p:sp>
      <p:sp>
        <p:nvSpPr>
          <p:cNvPr id="9" name="Text 7"/>
          <p:cNvSpPr/>
          <p:nvPr/>
        </p:nvSpPr>
        <p:spPr>
          <a:xfrm>
            <a:off x="4480560" y="2971800"/>
            <a:ext cx="3200400" cy="411480"/>
          </a:xfrm>
          <a:prstGeom prst="rect">
            <a:avLst/>
          </a:prstGeom>
          <a:noFill/>
          <a:ln/>
        </p:spPr>
        <p:txBody>
          <a:bodyPr wrap="square" rtlCol="0" anchor="ctr"/>
          <a:lstStyle/>
          <a:p>
            <a:pPr algn="ctr" indent="0" marL="0">
              <a:buNone/>
            </a:pPr>
            <a:r>
              <a:rPr lang="en-US" sz="2000" b="1" dirty="0">
                <a:solidFill>
                  <a:srgbClr val="C27A15"/>
                </a:solidFill>
                <a:latin typeface="Inter" pitchFamily="34" charset="0"/>
                <a:ea typeface="Inter" pitchFamily="34" charset="-122"/>
                <a:cs typeface="Inter" pitchFamily="34" charset="-120"/>
              </a:rPr>
              <a:t>Yellow</a:t>
            </a:r>
            <a:endParaRPr lang="en-US" sz="2000" dirty="0"/>
          </a:p>
        </p:txBody>
      </p:sp>
      <p:sp>
        <p:nvSpPr>
          <p:cNvPr id="10" name="Text 8"/>
          <p:cNvSpPr/>
          <p:nvPr/>
        </p:nvSpPr>
        <p:spPr>
          <a:xfrm>
            <a:off x="4480560" y="3383280"/>
            <a:ext cx="3200400" cy="548640"/>
          </a:xfrm>
          <a:prstGeom prst="rect">
            <a:avLst/>
          </a:prstGeom>
          <a:noFill/>
          <a:ln/>
        </p:spPr>
        <p:txBody>
          <a:bodyPr wrap="square" rtlCol="0" anchor="ctr"/>
          <a:lstStyle/>
          <a:p>
            <a:pPr algn="ctr" indent="0" marL="0">
              <a:lnSpc>
                <a:spcPct val="130000"/>
              </a:lnSpc>
              <a:buNone/>
            </a:pPr>
            <a:r>
              <a:rPr lang="en-US" sz="1200" dirty="0">
                <a:solidFill>
                  <a:srgbClr val="8B95A5"/>
                </a:solidFill>
                <a:latin typeface="Inter" pitchFamily="34" charset="0"/>
                <a:ea typeface="Inter" pitchFamily="34" charset="-122"/>
                <a:cs typeface="Inter" pitchFamily="34" charset="-120"/>
              </a:rPr>
              <a:t>Overdue + Lower Risk</a:t>
            </a:r>
            <a:endParaRPr lang="en-US" sz="1200" dirty="0"/>
          </a:p>
          <a:p>
            <a:pPr algn="ctr" indent="0" marL="0">
              <a:lnSpc>
                <a:spcPct val="130000"/>
              </a:lnSpc>
              <a:buNone/>
            </a:pPr>
            <a:r>
              <a:rPr lang="en-US" sz="1200" dirty="0">
                <a:solidFill>
                  <a:srgbClr val="8B95A5"/>
                </a:solidFill>
                <a:latin typeface="Inter" pitchFamily="34" charset="0"/>
                <a:ea typeface="Inter" pitchFamily="34" charset="-122"/>
                <a:cs typeface="Inter" pitchFamily="34" charset="-120"/>
              </a:rPr>
              <a:t>Act soon</a:t>
            </a:r>
            <a:endParaRPr lang="en-US" sz="1200" dirty="0"/>
          </a:p>
        </p:txBody>
      </p:sp>
      <p:sp>
        <p:nvSpPr>
          <p:cNvPr id="11" name="Shape 9"/>
          <p:cNvSpPr/>
          <p:nvPr/>
        </p:nvSpPr>
        <p:spPr>
          <a:xfrm>
            <a:off x="8275320" y="2834640"/>
            <a:ext cx="3200400" cy="1280160"/>
          </a:xfrm>
          <a:prstGeom prst="roundRect">
            <a:avLst>
              <a:gd name="adj" fmla="val 7143"/>
            </a:avLst>
          </a:prstGeom>
          <a:solidFill>
            <a:srgbClr val="0B7A5E">
              <a:alpha val="12000"/>
            </a:srgbClr>
          </a:solidFill>
          <a:ln w="12700">
            <a:solidFill>
              <a:srgbClr val="0B7A5E">
                <a:alpha val="35000"/>
              </a:srgbClr>
            </a:solidFill>
            <a:prstDash val="solid"/>
          </a:ln>
          <a:effectLst>
            <a:outerShdw sx="100000" sy="100000" kx="0" ky="0" algn="bl" rotWithShape="0" blurRad="127000" dist="50800" dir="16200000">
              <a:srgbClr val="0B7A5E">
                <a:alpha val="10000"/>
              </a:srgbClr>
            </a:outerShdw>
          </a:effectLst>
        </p:spPr>
      </p:sp>
      <p:sp>
        <p:nvSpPr>
          <p:cNvPr id="12" name="Text 10"/>
          <p:cNvSpPr/>
          <p:nvPr/>
        </p:nvSpPr>
        <p:spPr>
          <a:xfrm>
            <a:off x="8275320" y="2971800"/>
            <a:ext cx="3200400" cy="411480"/>
          </a:xfrm>
          <a:prstGeom prst="rect">
            <a:avLst/>
          </a:prstGeom>
          <a:noFill/>
          <a:ln/>
        </p:spPr>
        <p:txBody>
          <a:bodyPr wrap="square" rtlCol="0" anchor="ctr"/>
          <a:lstStyle/>
          <a:p>
            <a:pPr algn="ctr" indent="0" marL="0">
              <a:buNone/>
            </a:pPr>
            <a:r>
              <a:rPr lang="en-US" sz="2000" b="1" dirty="0">
                <a:solidFill>
                  <a:srgbClr val="0B7A5E"/>
                </a:solidFill>
                <a:latin typeface="Inter" pitchFamily="34" charset="0"/>
                <a:ea typeface="Inter" pitchFamily="34" charset="-122"/>
                <a:cs typeface="Inter" pitchFamily="34" charset="-120"/>
              </a:rPr>
              <a:t>Green</a:t>
            </a:r>
            <a:endParaRPr lang="en-US" sz="2000" dirty="0"/>
          </a:p>
        </p:txBody>
      </p:sp>
      <p:sp>
        <p:nvSpPr>
          <p:cNvPr id="13" name="Text 11"/>
          <p:cNvSpPr/>
          <p:nvPr/>
        </p:nvSpPr>
        <p:spPr>
          <a:xfrm>
            <a:off x="8275320" y="3383280"/>
            <a:ext cx="3200400" cy="548640"/>
          </a:xfrm>
          <a:prstGeom prst="rect">
            <a:avLst/>
          </a:prstGeom>
          <a:noFill/>
          <a:ln/>
        </p:spPr>
        <p:txBody>
          <a:bodyPr wrap="square" rtlCol="0" anchor="ctr"/>
          <a:lstStyle/>
          <a:p>
            <a:pPr algn="ctr" indent="0" marL="0">
              <a:lnSpc>
                <a:spcPct val="130000"/>
              </a:lnSpc>
              <a:buNone/>
            </a:pPr>
            <a:r>
              <a:rPr lang="en-US" sz="1200" dirty="0">
                <a:solidFill>
                  <a:srgbClr val="8B95A5"/>
                </a:solidFill>
                <a:latin typeface="Inter" pitchFamily="34" charset="0"/>
                <a:ea typeface="Inter" pitchFamily="34" charset="-122"/>
                <a:cs typeface="Inter" pitchFamily="34" charset="-120"/>
              </a:rPr>
              <a:t>Up to date</a:t>
            </a:r>
            <a:endParaRPr lang="en-US" sz="1200" dirty="0"/>
          </a:p>
          <a:p>
            <a:pPr algn="ctr" indent="0" marL="0">
              <a:lnSpc>
                <a:spcPct val="130000"/>
              </a:lnSpc>
              <a:buNone/>
            </a:pPr>
            <a:r>
              <a:rPr lang="en-US" sz="1200" dirty="0">
                <a:solidFill>
                  <a:srgbClr val="8B95A5"/>
                </a:solidFill>
                <a:latin typeface="Inter" pitchFamily="34" charset="0"/>
                <a:ea typeface="Inter" pitchFamily="34" charset="-122"/>
                <a:cs typeface="Inter" pitchFamily="34" charset="-120"/>
              </a:rPr>
              <a:t>Monitor</a:t>
            </a:r>
            <a:endParaRPr lang="en-US" sz="1200" dirty="0"/>
          </a:p>
        </p:txBody>
      </p:sp>
      <p:sp>
        <p:nvSpPr>
          <p:cNvPr id="14" name="Text 12"/>
          <p:cNvSpPr/>
          <p:nvPr/>
        </p:nvSpPr>
        <p:spPr>
          <a:xfrm>
            <a:off x="685800" y="4572000"/>
            <a:ext cx="10515600" cy="365760"/>
          </a:xfrm>
          <a:prstGeom prst="rect">
            <a:avLst/>
          </a:prstGeom>
          <a:noFill/>
          <a:ln/>
        </p:spPr>
        <p:txBody>
          <a:bodyPr wrap="square" rtlCol="0" anchor="ctr"/>
          <a:lstStyle/>
          <a:p>
            <a:pPr indent="0" marL="0">
              <a:buNone/>
            </a:pPr>
            <a:r>
              <a:rPr lang="en-US" sz="1300" dirty="0">
                <a:solidFill>
                  <a:srgbClr val="E8E6E1"/>
                </a:solidFill>
                <a:latin typeface="Inter" pitchFamily="34" charset="0"/>
                <a:ea typeface="Inter" pitchFamily="34" charset="-122"/>
                <a:cs typeface="Inter" pitchFamily="34" charset="-120"/>
              </a:rPr>
              <a:t>An AI agent that renders real interactive UI — tables, charts, patient cards — not walls of text.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411480"/>
            <a:ext cx="4572000" cy="32004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PATIENT VIEW</a:t>
            </a:r>
            <a:endParaRPr lang="en-US" sz="1000" dirty="0"/>
          </a:p>
        </p:txBody>
      </p:sp>
      <p:sp>
        <p:nvSpPr>
          <p:cNvPr id="3" name="Text 1"/>
          <p:cNvSpPr/>
          <p:nvPr/>
        </p:nvSpPr>
        <p:spPr>
          <a:xfrm>
            <a:off x="685800" y="777240"/>
            <a:ext cx="10515600" cy="640080"/>
          </a:xfrm>
          <a:prstGeom prst="rect">
            <a:avLst/>
          </a:prstGeom>
          <a:noFill/>
          <a:ln/>
        </p:spPr>
        <p:txBody>
          <a:bodyPr wrap="square" rtlCol="0" anchor="ctr"/>
          <a:lstStyle/>
          <a:p>
            <a:pPr indent="0" marL="0">
              <a:buNone/>
            </a:pPr>
            <a:r>
              <a:rPr lang="en-US" sz="3400" b="1" dirty="0">
                <a:solidFill>
                  <a:srgbClr val="FAFAF8"/>
                </a:solidFill>
                <a:latin typeface="Inter" pitchFamily="34" charset="0"/>
                <a:ea typeface="Inter" pitchFamily="34" charset="-122"/>
                <a:cs typeface="Inter" pitchFamily="34" charset="-120"/>
              </a:rPr>
              <a:t>Best</a:t>
            </a:r>
            <a:pPr indent="0" marL="0">
              <a:buNone/>
            </a:pPr>
            <a:r>
              <a:rPr lang="en-US" sz="3400" b="1" dirty="0">
                <a:solidFill>
                  <a:srgbClr val="0FAFAF"/>
                </a:solidFill>
                <a:latin typeface="Inter" pitchFamily="34" charset="0"/>
                <a:ea typeface="Inter" pitchFamily="34" charset="-122"/>
                <a:cs typeface="Inter" pitchFamily="34" charset="-120"/>
              </a:rPr>
              <a:t>Path</a:t>
            </a:r>
            <a:pPr indent="0" marL="0">
              <a:buNone/>
            </a:pPr>
            <a:r>
              <a:rPr lang="en-US" sz="2000" dirty="0">
                <a:solidFill>
                  <a:srgbClr val="8B95A5"/>
                </a:solidFill>
                <a:latin typeface="Inter" pitchFamily="34" charset="0"/>
                <a:ea typeface="Inter" pitchFamily="34" charset="-122"/>
                <a:cs typeface="Inter" pitchFamily="34" charset="-120"/>
              </a:rPr>
              <a:t>  for the 6.5M without a doctor</a:t>
            </a:r>
            <a:endParaRPr lang="en-US" sz="3400" dirty="0"/>
          </a:p>
        </p:txBody>
      </p:sp>
      <p:sp>
        <p:nvSpPr>
          <p:cNvPr id="4" name="Shape 2"/>
          <p:cNvSpPr/>
          <p:nvPr/>
        </p:nvSpPr>
        <p:spPr>
          <a:xfrm>
            <a:off x="685800" y="1600200"/>
            <a:ext cx="731520" cy="32004"/>
          </a:xfrm>
          <a:prstGeom prst="rect">
            <a:avLst/>
          </a:prstGeom>
          <a:solidFill>
            <a:srgbClr val="0B8585"/>
          </a:solidFill>
          <a:ln/>
        </p:spPr>
      </p:sp>
      <p:sp>
        <p:nvSpPr>
          <p:cNvPr id="5" name="Text 3"/>
          <p:cNvSpPr/>
          <p:nvPr/>
        </p:nvSpPr>
        <p:spPr>
          <a:xfrm>
            <a:off x="685800" y="1783080"/>
            <a:ext cx="5029200" cy="2377440"/>
          </a:xfrm>
          <a:prstGeom prst="rect">
            <a:avLst/>
          </a:prstGeom>
          <a:noFill/>
          <a:ln/>
        </p:spPr>
        <p:txBody>
          <a:bodyPr wrap="square" rtlCol="0" anchor="ctr"/>
          <a:lstStyle/>
          <a:p>
            <a:pPr indent="0" marL="0">
              <a:lnSpc>
                <a:spcPct val="150000"/>
              </a:lnSpc>
              <a:buNone/>
            </a:pPr>
            <a:r>
              <a:rPr lang="en-US" sz="1300" dirty="0">
                <a:solidFill>
                  <a:srgbClr val="E8E6E1"/>
                </a:solidFill>
                <a:latin typeface="Inter" pitchFamily="34" charset="0"/>
                <a:ea typeface="Inter" pitchFamily="34" charset="-122"/>
                <a:cs typeface="Inter" pitchFamily="34" charset="-120"/>
              </a:rPr>
              <a:t>Enter your health info conversationally — age, conditions, meds, concerns, family history. As much or as little as you have.</a:t>
            </a:r>
            <a:endParaRPr lang="en-US" sz="1300" dirty="0"/>
          </a:p>
          <a:p>
            <a:pPr indent="0" marL="0">
              <a:lnSpc>
                <a:spcPct val="150000"/>
              </a:lnSpc>
              <a:buNone/>
            </a:pPr>
            <a:endParaRPr lang="en-US" sz="1300" dirty="0"/>
          </a:p>
          <a:p>
            <a:pPr indent="0" marL="0">
              <a:lnSpc>
                <a:spcPct val="150000"/>
              </a:lnSpc>
              <a:buNone/>
            </a:pPr>
            <a:r>
              <a:rPr lang="en-US" sz="1300" dirty="0">
                <a:solidFill>
                  <a:srgbClr val="E8E6E1"/>
                </a:solidFill>
                <a:latin typeface="Inter" pitchFamily="34" charset="0"/>
                <a:ea typeface="Inter" pitchFamily="34" charset="-122"/>
                <a:cs typeface="Inter" pitchFamily="34" charset="-120"/>
              </a:rPr>
              <a:t>Same engine underneath: risk profiling, evidence retrieval, guideline matching. You get cited next-step guidance — what you need, when, and who can actually help.</a:t>
            </a:r>
            <a:endParaRPr lang="en-US" sz="1300" dirty="0"/>
          </a:p>
        </p:txBody>
      </p:sp>
      <p:sp>
        <p:nvSpPr>
          <p:cNvPr id="6" name="Shape 4"/>
          <p:cNvSpPr/>
          <p:nvPr/>
        </p:nvSpPr>
        <p:spPr>
          <a:xfrm>
            <a:off x="6217920" y="1600200"/>
            <a:ext cx="731520" cy="32004"/>
          </a:xfrm>
          <a:prstGeom prst="rect">
            <a:avLst/>
          </a:prstGeom>
          <a:solidFill>
            <a:srgbClr val="0B8585"/>
          </a:solidFill>
          <a:ln/>
        </p:spPr>
      </p:sp>
      <p:sp>
        <p:nvSpPr>
          <p:cNvPr id="7" name="Text 5"/>
          <p:cNvSpPr/>
          <p:nvPr/>
        </p:nvSpPr>
        <p:spPr>
          <a:xfrm>
            <a:off x="6217920" y="1783080"/>
            <a:ext cx="5029200" cy="320040"/>
          </a:xfrm>
          <a:prstGeom prst="rect">
            <a:avLst/>
          </a:prstGeom>
          <a:noFill/>
          <a:ln/>
        </p:spPr>
        <p:txBody>
          <a:bodyPr wrap="square" rtlCol="0" anchor="ctr"/>
          <a:lstStyle/>
          <a:p>
            <a:pPr indent="0" marL="0">
              <a:buNone/>
            </a:pPr>
            <a:r>
              <a:rPr lang="en-US" sz="1300" b="1" dirty="0">
                <a:solidFill>
                  <a:srgbClr val="FAFAF8"/>
                </a:solidFill>
                <a:latin typeface="Inter" pitchFamily="34" charset="0"/>
                <a:ea typeface="Inter" pitchFamily="34" charset="-122"/>
                <a:cs typeface="Inter" pitchFamily="34" charset="-120"/>
              </a:rPr>
              <a:t>Not "see a doctor." Specific routing:</a:t>
            </a:r>
            <a:endParaRPr lang="en-US" sz="1300" dirty="0"/>
          </a:p>
        </p:txBody>
      </p:sp>
      <p:sp>
        <p:nvSpPr>
          <p:cNvPr id="8" name="Shape 6"/>
          <p:cNvSpPr/>
          <p:nvPr/>
        </p:nvSpPr>
        <p:spPr>
          <a:xfrm>
            <a:off x="6217920" y="2286000"/>
            <a:ext cx="27432" cy="594360"/>
          </a:xfrm>
          <a:prstGeom prst="rect">
            <a:avLst/>
          </a:prstGeom>
          <a:solidFill>
            <a:srgbClr val="0B8585"/>
          </a:solidFill>
          <a:ln/>
        </p:spPr>
      </p:sp>
      <p:sp>
        <p:nvSpPr>
          <p:cNvPr id="9" name="Shape 7"/>
          <p:cNvSpPr/>
          <p:nvPr/>
        </p:nvSpPr>
        <p:spPr>
          <a:xfrm>
            <a:off x="6254496" y="2286000"/>
            <a:ext cx="4754880" cy="594360"/>
          </a:xfrm>
          <a:prstGeom prst="roundRect">
            <a:avLst>
              <a:gd name="adj" fmla="val 7692"/>
            </a:avLst>
          </a:prstGeom>
          <a:solidFill>
            <a:srgbClr val="0B8585">
              <a:alpha val="4000"/>
            </a:srgbClr>
          </a:solidFill>
          <a:ln/>
        </p:spPr>
      </p:sp>
      <p:sp>
        <p:nvSpPr>
          <p:cNvPr id="10" name="Text 8"/>
          <p:cNvSpPr/>
          <p:nvPr/>
        </p:nvSpPr>
        <p:spPr>
          <a:xfrm>
            <a:off x="6400800" y="2304288"/>
            <a:ext cx="4480560" cy="320040"/>
          </a:xfrm>
          <a:prstGeom prst="rect">
            <a:avLst/>
          </a:prstGeom>
          <a:noFill/>
          <a:ln/>
        </p:spPr>
        <p:txBody>
          <a:bodyPr wrap="square" rtlCol="0" anchor="ctr"/>
          <a:lstStyle/>
          <a:p>
            <a:pPr indent="0" marL="0">
              <a:buNone/>
            </a:pPr>
            <a:r>
              <a:rPr lang="en-US" sz="1200" i="1" dirty="0">
                <a:solidFill>
                  <a:srgbClr val="FAFAF8"/>
                </a:solidFill>
                <a:latin typeface="Inter" pitchFamily="34" charset="0"/>
                <a:ea typeface="Inter" pitchFamily="34" charset="-122"/>
                <a:cs typeface="Inter" pitchFamily="34" charset="-120"/>
              </a:rPr>
              <a:t>"A pharmacist can monitor your blood pressure."</a:t>
            </a:r>
            <a:endParaRPr lang="en-US" sz="1200" dirty="0"/>
          </a:p>
        </p:txBody>
      </p:sp>
      <p:sp>
        <p:nvSpPr>
          <p:cNvPr id="11" name="Text 9"/>
          <p:cNvSpPr/>
          <p:nvPr/>
        </p:nvSpPr>
        <p:spPr>
          <a:xfrm>
            <a:off x="6400800" y="2633472"/>
            <a:ext cx="4480560" cy="228600"/>
          </a:xfrm>
          <a:prstGeom prst="rect">
            <a:avLst/>
          </a:prstGeom>
          <a:noFill/>
          <a:ln/>
        </p:spPr>
        <p:txBody>
          <a:bodyPr wrap="square" rtlCol="0" anchor="ctr"/>
          <a:lstStyle/>
          <a:p>
            <a:pPr indent="0" marL="0">
              <a:buNone/>
            </a:pPr>
            <a:r>
              <a:rPr lang="en-US" sz="900" dirty="0">
                <a:solidFill>
                  <a:srgbClr val="8B95A5"/>
                </a:solidFill>
                <a:latin typeface="Inter" pitchFamily="34" charset="0"/>
                <a:ea typeface="Inter" pitchFamily="34" charset="-122"/>
                <a:cs typeface="Inter" pitchFamily="34" charset="-120"/>
              </a:rPr>
              <a:t>→ Pharmacy · No referral needed</a:t>
            </a:r>
            <a:endParaRPr lang="en-US" sz="900" dirty="0"/>
          </a:p>
        </p:txBody>
      </p:sp>
      <p:sp>
        <p:nvSpPr>
          <p:cNvPr id="12" name="Shape 10"/>
          <p:cNvSpPr/>
          <p:nvPr/>
        </p:nvSpPr>
        <p:spPr>
          <a:xfrm>
            <a:off x="6217920" y="3017520"/>
            <a:ext cx="27432" cy="594360"/>
          </a:xfrm>
          <a:prstGeom prst="rect">
            <a:avLst/>
          </a:prstGeom>
          <a:solidFill>
            <a:srgbClr val="0B8585"/>
          </a:solidFill>
          <a:ln/>
        </p:spPr>
      </p:sp>
      <p:sp>
        <p:nvSpPr>
          <p:cNvPr id="13" name="Shape 11"/>
          <p:cNvSpPr/>
          <p:nvPr/>
        </p:nvSpPr>
        <p:spPr>
          <a:xfrm>
            <a:off x="6254496" y="3017520"/>
            <a:ext cx="4754880" cy="594360"/>
          </a:xfrm>
          <a:prstGeom prst="roundRect">
            <a:avLst>
              <a:gd name="adj" fmla="val 7692"/>
            </a:avLst>
          </a:prstGeom>
          <a:solidFill>
            <a:srgbClr val="0B8585">
              <a:alpha val="4000"/>
            </a:srgbClr>
          </a:solidFill>
          <a:ln/>
        </p:spPr>
      </p:sp>
      <p:sp>
        <p:nvSpPr>
          <p:cNvPr id="14" name="Text 12"/>
          <p:cNvSpPr/>
          <p:nvPr/>
        </p:nvSpPr>
        <p:spPr>
          <a:xfrm>
            <a:off x="6400800" y="3035808"/>
            <a:ext cx="4480560" cy="320040"/>
          </a:xfrm>
          <a:prstGeom prst="rect">
            <a:avLst/>
          </a:prstGeom>
          <a:noFill/>
          <a:ln/>
        </p:spPr>
        <p:txBody>
          <a:bodyPr wrap="square" rtlCol="0" anchor="ctr"/>
          <a:lstStyle/>
          <a:p>
            <a:pPr indent="0" marL="0">
              <a:buNone/>
            </a:pPr>
            <a:r>
              <a:rPr lang="en-US" sz="1200" i="1" dirty="0">
                <a:solidFill>
                  <a:srgbClr val="FAFAF8"/>
                </a:solidFill>
                <a:latin typeface="Inter" pitchFamily="34" charset="0"/>
                <a:ea typeface="Inter" pitchFamily="34" charset="-122"/>
                <a:cs typeface="Inter" pitchFamily="34" charset="-120"/>
              </a:rPr>
              <a:t>"A dietitian can help with diabetes management."</a:t>
            </a:r>
            <a:endParaRPr lang="en-US" sz="1200" dirty="0"/>
          </a:p>
        </p:txBody>
      </p:sp>
      <p:sp>
        <p:nvSpPr>
          <p:cNvPr id="15" name="Text 13"/>
          <p:cNvSpPr/>
          <p:nvPr/>
        </p:nvSpPr>
        <p:spPr>
          <a:xfrm>
            <a:off x="6400800" y="3364992"/>
            <a:ext cx="4480560" cy="228600"/>
          </a:xfrm>
          <a:prstGeom prst="rect">
            <a:avLst/>
          </a:prstGeom>
          <a:noFill/>
          <a:ln/>
        </p:spPr>
        <p:txBody>
          <a:bodyPr wrap="square" rtlCol="0" anchor="ctr"/>
          <a:lstStyle/>
          <a:p>
            <a:pPr indent="0" marL="0">
              <a:buNone/>
            </a:pPr>
            <a:r>
              <a:rPr lang="en-US" sz="900" dirty="0">
                <a:solidFill>
                  <a:srgbClr val="8B95A5"/>
                </a:solidFill>
                <a:latin typeface="Inter" pitchFamily="34" charset="0"/>
                <a:ea typeface="Inter" pitchFamily="34" charset="-122"/>
                <a:cs typeface="Inter" pitchFamily="34" charset="-120"/>
              </a:rPr>
              <a:t>→ Allied health · Shorter wait</a:t>
            </a:r>
            <a:endParaRPr lang="en-US" sz="900" dirty="0"/>
          </a:p>
        </p:txBody>
      </p:sp>
      <p:sp>
        <p:nvSpPr>
          <p:cNvPr id="16" name="Shape 14"/>
          <p:cNvSpPr/>
          <p:nvPr/>
        </p:nvSpPr>
        <p:spPr>
          <a:xfrm>
            <a:off x="6217920" y="3749040"/>
            <a:ext cx="27432" cy="594360"/>
          </a:xfrm>
          <a:prstGeom prst="rect">
            <a:avLst/>
          </a:prstGeom>
          <a:solidFill>
            <a:srgbClr val="0B8585"/>
          </a:solidFill>
          <a:ln/>
        </p:spPr>
      </p:sp>
      <p:sp>
        <p:nvSpPr>
          <p:cNvPr id="17" name="Shape 15"/>
          <p:cNvSpPr/>
          <p:nvPr/>
        </p:nvSpPr>
        <p:spPr>
          <a:xfrm>
            <a:off x="6254496" y="3749040"/>
            <a:ext cx="4754880" cy="594360"/>
          </a:xfrm>
          <a:prstGeom prst="roundRect">
            <a:avLst>
              <a:gd name="adj" fmla="val 7692"/>
            </a:avLst>
          </a:prstGeom>
          <a:solidFill>
            <a:srgbClr val="0B8585">
              <a:alpha val="4000"/>
            </a:srgbClr>
          </a:solidFill>
          <a:ln/>
        </p:spPr>
      </p:sp>
      <p:sp>
        <p:nvSpPr>
          <p:cNvPr id="18" name="Text 16"/>
          <p:cNvSpPr/>
          <p:nvPr/>
        </p:nvSpPr>
        <p:spPr>
          <a:xfrm>
            <a:off x="6400800" y="3767328"/>
            <a:ext cx="4480560" cy="320040"/>
          </a:xfrm>
          <a:prstGeom prst="rect">
            <a:avLst/>
          </a:prstGeom>
          <a:noFill/>
          <a:ln/>
        </p:spPr>
        <p:txBody>
          <a:bodyPr wrap="square" rtlCol="0" anchor="ctr"/>
          <a:lstStyle/>
          <a:p>
            <a:pPr indent="0" marL="0">
              <a:buNone/>
            </a:pPr>
            <a:r>
              <a:rPr lang="en-US" sz="1200" i="1" dirty="0">
                <a:solidFill>
                  <a:srgbClr val="FAFAF8"/>
                </a:solidFill>
                <a:latin typeface="Inter" pitchFamily="34" charset="0"/>
                <a:ea typeface="Inter" pitchFamily="34" charset="-122"/>
                <a:cs typeface="Inter" pitchFamily="34" charset="-120"/>
              </a:rPr>
              <a:t>"You need a walk-in clinic to get this referral started."</a:t>
            </a:r>
            <a:endParaRPr lang="en-US" sz="1200" dirty="0"/>
          </a:p>
        </p:txBody>
      </p:sp>
      <p:sp>
        <p:nvSpPr>
          <p:cNvPr id="19" name="Text 17"/>
          <p:cNvSpPr/>
          <p:nvPr/>
        </p:nvSpPr>
        <p:spPr>
          <a:xfrm>
            <a:off x="6400800" y="4096512"/>
            <a:ext cx="4480560" cy="228600"/>
          </a:xfrm>
          <a:prstGeom prst="rect">
            <a:avLst/>
          </a:prstGeom>
          <a:noFill/>
          <a:ln/>
        </p:spPr>
        <p:txBody>
          <a:bodyPr wrap="square" rtlCol="0" anchor="ctr"/>
          <a:lstStyle/>
          <a:p>
            <a:pPr indent="0" marL="0">
              <a:buNone/>
            </a:pPr>
            <a:r>
              <a:rPr lang="en-US" sz="900" dirty="0">
                <a:solidFill>
                  <a:srgbClr val="8B95A5"/>
                </a:solidFill>
                <a:latin typeface="Inter" pitchFamily="34" charset="0"/>
                <a:ea typeface="Inter" pitchFamily="34" charset="-122"/>
                <a:cs typeface="Inter" pitchFamily="34" charset="-120"/>
              </a:rPr>
              <a:t>→ Walk-in · Available today</a:t>
            </a:r>
            <a:endParaRPr lang="en-US" sz="900" dirty="0"/>
          </a:p>
        </p:txBody>
      </p:sp>
      <p:sp>
        <p:nvSpPr>
          <p:cNvPr id="20" name="Text 18"/>
          <p:cNvSpPr/>
          <p:nvPr/>
        </p:nvSpPr>
        <p:spPr>
          <a:xfrm>
            <a:off x="685800" y="4754880"/>
            <a:ext cx="10515600" cy="365760"/>
          </a:xfrm>
          <a:prstGeom prst="rect">
            <a:avLst/>
          </a:prstGeom>
          <a:noFill/>
          <a:ln/>
        </p:spPr>
        <p:txBody>
          <a:bodyPr wrap="square" rtlCol="0" anchor="ctr"/>
          <a:lstStyle/>
          <a:p>
            <a:pPr indent="0" marL="0">
              <a:buNone/>
            </a:pPr>
            <a:r>
              <a:rPr lang="en-US" sz="1200" dirty="0">
                <a:solidFill>
                  <a:srgbClr val="8B95A5"/>
                </a:solidFill>
                <a:latin typeface="Inter" pitchFamily="34" charset="0"/>
                <a:ea typeface="Inter" pitchFamily="34" charset="-122"/>
                <a:cs typeface="Inter" pitchFamily="34" charset="-120"/>
              </a:rPr>
              <a:t>Routes to the </a:t>
            </a:r>
            <a:pPr indent="0" marL="0">
              <a:buNone/>
            </a:pPr>
            <a:r>
              <a:rPr lang="en-US" sz="1200" b="1" dirty="0">
                <a:solidFill>
                  <a:srgbClr val="FAFAF8"/>
                </a:solidFill>
                <a:latin typeface="Inter" pitchFamily="34" charset="0"/>
                <a:ea typeface="Inter" pitchFamily="34" charset="-122"/>
                <a:cs typeface="Inter" pitchFamily="34" charset="-120"/>
              </a:rPr>
              <a:t>right level of care</a:t>
            </a:r>
            <a:pPr indent="0" marL="0">
              <a:buNone/>
            </a:pPr>
            <a:r>
              <a:rPr lang="en-US" sz="1200" dirty="0">
                <a:solidFill>
                  <a:srgbClr val="8B95A5"/>
                </a:solidFill>
                <a:latin typeface="Inter" pitchFamily="34" charset="0"/>
                <a:ea typeface="Inter" pitchFamily="34" charset="-122"/>
                <a:cs typeface="Inter" pitchFamily="34" charset="-120"/>
              </a:rPr>
              <a:t>, not the default specialist queue. Patients get faster help. The system gets less load. </a:t>
            </a:r>
            <a:pPr indent="0" marL="0">
              <a:buNone/>
            </a:pPr>
            <a:r>
              <a:rPr lang="en-US" sz="1200" b="1" dirty="0">
                <a:solidFill>
                  <a:srgbClr val="0FAFAF"/>
                </a:solidFill>
                <a:latin typeface="Inter" pitchFamily="34" charset="0"/>
                <a:ea typeface="Inter" pitchFamily="34" charset="-122"/>
                <a:cs typeface="Inter" pitchFamily="34" charset="-120"/>
              </a:rPr>
              <a:t>Everyone wins.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411480"/>
            <a:ext cx="4572000" cy="32004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THE ENGINE</a:t>
            </a:r>
            <a:endParaRPr lang="en-US" sz="1000" dirty="0"/>
          </a:p>
        </p:txBody>
      </p:sp>
      <p:sp>
        <p:nvSpPr>
          <p:cNvPr id="3" name="Text 1"/>
          <p:cNvSpPr/>
          <p:nvPr/>
        </p:nvSpPr>
        <p:spPr>
          <a:xfrm>
            <a:off x="685800" y="777240"/>
            <a:ext cx="10789920" cy="731520"/>
          </a:xfrm>
          <a:prstGeom prst="rect">
            <a:avLst/>
          </a:prstGeom>
          <a:noFill/>
          <a:ln/>
        </p:spPr>
        <p:txBody>
          <a:bodyPr wrap="square" rtlCol="0" anchor="ctr"/>
          <a:lstStyle/>
          <a:p>
            <a:pPr indent="0" marL="0">
              <a:lnSpc>
                <a:spcPct val="110000"/>
              </a:lnSpc>
              <a:buNone/>
            </a:pPr>
            <a:r>
              <a:rPr lang="en-US" sz="3200" b="1" dirty="0">
                <a:solidFill>
                  <a:srgbClr val="FAFAF8"/>
                </a:solidFill>
                <a:latin typeface="Inter" pitchFamily="34" charset="0"/>
                <a:ea typeface="Inter" pitchFamily="34" charset="-122"/>
                <a:cs typeface="Inter" pitchFamily="34" charset="-120"/>
              </a:rPr>
              <a:t>AI suggests. Math decides.</a:t>
            </a:r>
            <a:endParaRPr lang="en-US" sz="3200" dirty="0"/>
          </a:p>
        </p:txBody>
      </p:sp>
      <p:sp>
        <p:nvSpPr>
          <p:cNvPr id="4" name="Shape 2"/>
          <p:cNvSpPr/>
          <p:nvPr/>
        </p:nvSpPr>
        <p:spPr>
          <a:xfrm>
            <a:off x="502920" y="1828800"/>
            <a:ext cx="1737360" cy="1188720"/>
          </a:xfrm>
          <a:prstGeom prst="roundRect">
            <a:avLst>
              <a:gd name="adj" fmla="val 6154"/>
            </a:avLst>
          </a:prstGeom>
          <a:solidFill>
            <a:srgbClr val="0B8585">
              <a:alpha val="12000"/>
            </a:srgbClr>
          </a:solidFill>
          <a:ln w="12700">
            <a:solidFill>
              <a:srgbClr val="0FAFAF">
                <a:alpha val="30000"/>
              </a:srgbClr>
            </a:solidFill>
            <a:prstDash val="solid"/>
          </a:ln>
        </p:spPr>
      </p:sp>
      <p:sp>
        <p:nvSpPr>
          <p:cNvPr id="5" name="Text 3"/>
          <p:cNvSpPr/>
          <p:nvPr/>
        </p:nvSpPr>
        <p:spPr>
          <a:xfrm>
            <a:off x="502920" y="1965960"/>
            <a:ext cx="1737360" cy="502920"/>
          </a:xfrm>
          <a:prstGeom prst="rect">
            <a:avLst/>
          </a:prstGeom>
          <a:noFill/>
          <a:ln/>
        </p:spPr>
        <p:txBody>
          <a:bodyPr wrap="square" rtlCol="0" anchor="b"/>
          <a:lstStyle/>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Patient</a:t>
            </a:r>
            <a:endParaRPr lang="en-US" sz="1100" dirty="0"/>
          </a:p>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Data</a:t>
            </a:r>
            <a:endParaRPr lang="en-US" sz="1100" dirty="0"/>
          </a:p>
        </p:txBody>
      </p:sp>
      <p:sp>
        <p:nvSpPr>
          <p:cNvPr id="6" name="Text 4"/>
          <p:cNvSpPr/>
          <p:nvPr/>
        </p:nvSpPr>
        <p:spPr>
          <a:xfrm>
            <a:off x="502920" y="2468880"/>
            <a:ext cx="1737360" cy="457200"/>
          </a:xfrm>
          <a:prstGeom prst="rect">
            <a:avLst/>
          </a:prstGeom>
          <a:noFill/>
          <a:ln/>
        </p:spPr>
        <p:txBody>
          <a:bodyPr wrap="square" rtlCol="0" anchor="t"/>
          <a:lstStyle/>
          <a:p>
            <a:pPr algn="ctr" indent="0" marL="0">
              <a:lnSpc>
                <a:spcPct val="120000"/>
              </a:lnSpc>
              <a:buNone/>
            </a:pPr>
            <a:r>
              <a:rPr lang="en-US" sz="900" dirty="0">
                <a:solidFill>
                  <a:srgbClr val="8B95A5"/>
                </a:solidFill>
                <a:latin typeface="Inter" pitchFamily="34" charset="0"/>
                <a:ea typeface="Inter" pitchFamily="34" charset="-122"/>
                <a:cs typeface="Inter" pitchFamily="34" charset="-120"/>
              </a:rPr>
              <a:t>Demographics, labs,</a:t>
            </a:r>
            <a:endParaRPr lang="en-US" sz="900" dirty="0"/>
          </a:p>
          <a:p>
            <a:pPr algn="ctr" indent="0" marL="0">
              <a:lnSpc>
                <a:spcPct val="120000"/>
              </a:lnSpc>
              <a:buNone/>
            </a:pPr>
            <a:r>
              <a:rPr lang="en-US" sz="900" dirty="0">
                <a:solidFill>
                  <a:srgbClr val="8B95A5"/>
                </a:solidFill>
                <a:latin typeface="Inter" pitchFamily="34" charset="0"/>
                <a:ea typeface="Inter" pitchFamily="34" charset="-122"/>
                <a:cs typeface="Inter" pitchFamily="34" charset="-120"/>
              </a:rPr>
              <a:t>meds, encounters</a:t>
            </a:r>
            <a:endParaRPr lang="en-US" sz="900" dirty="0"/>
          </a:p>
        </p:txBody>
      </p:sp>
      <p:sp>
        <p:nvSpPr>
          <p:cNvPr id="7" name="Text 5"/>
          <p:cNvSpPr/>
          <p:nvPr/>
        </p:nvSpPr>
        <p:spPr>
          <a:xfrm>
            <a:off x="2286000" y="1828800"/>
            <a:ext cx="365760" cy="1188720"/>
          </a:xfrm>
          <a:prstGeom prst="rect">
            <a:avLst/>
          </a:prstGeom>
          <a:noFill/>
          <a:ln/>
        </p:spPr>
        <p:txBody>
          <a:bodyPr wrap="square" rtlCol="0" anchor="ctr"/>
          <a:lstStyle/>
          <a:p>
            <a:pPr algn="ctr" indent="0" marL="0">
              <a:buNone/>
            </a:pPr>
            <a:r>
              <a:rPr lang="en-US" sz="2000" dirty="0">
                <a:solidFill>
                  <a:srgbClr val="0B8585"/>
                </a:solidFill>
                <a:latin typeface="Inter" pitchFamily="34" charset="0"/>
                <a:ea typeface="Inter" pitchFamily="34" charset="-122"/>
                <a:cs typeface="Inter" pitchFamily="34" charset="-120"/>
              </a:rPr>
              <a:t>→</a:t>
            </a:r>
            <a:endParaRPr lang="en-US" sz="2000" dirty="0"/>
          </a:p>
        </p:txBody>
      </p:sp>
      <p:sp>
        <p:nvSpPr>
          <p:cNvPr id="8" name="Shape 6"/>
          <p:cNvSpPr/>
          <p:nvPr/>
        </p:nvSpPr>
        <p:spPr>
          <a:xfrm>
            <a:off x="2697480" y="1828800"/>
            <a:ext cx="1737360" cy="1188720"/>
          </a:xfrm>
          <a:prstGeom prst="roundRect">
            <a:avLst>
              <a:gd name="adj" fmla="val 6154"/>
            </a:avLst>
          </a:prstGeom>
          <a:solidFill>
            <a:srgbClr val="0B8585">
              <a:alpha val="12000"/>
            </a:srgbClr>
          </a:solidFill>
          <a:ln w="12700">
            <a:solidFill>
              <a:srgbClr val="0FAFAF">
                <a:alpha val="30000"/>
              </a:srgbClr>
            </a:solidFill>
            <a:prstDash val="solid"/>
          </a:ln>
        </p:spPr>
      </p:sp>
      <p:sp>
        <p:nvSpPr>
          <p:cNvPr id="9" name="Text 7"/>
          <p:cNvSpPr/>
          <p:nvPr/>
        </p:nvSpPr>
        <p:spPr>
          <a:xfrm>
            <a:off x="2697480" y="1965960"/>
            <a:ext cx="1737360" cy="502920"/>
          </a:xfrm>
          <a:prstGeom prst="rect">
            <a:avLst/>
          </a:prstGeom>
          <a:noFill/>
          <a:ln/>
        </p:spPr>
        <p:txBody>
          <a:bodyPr wrap="square" rtlCol="0" anchor="b"/>
          <a:lstStyle/>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Risk Confluence</a:t>
            </a:r>
            <a:endParaRPr lang="en-US" sz="1100" dirty="0"/>
          </a:p>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Vector (RCV)</a:t>
            </a:r>
            <a:endParaRPr lang="en-US" sz="1100" dirty="0"/>
          </a:p>
        </p:txBody>
      </p:sp>
      <p:sp>
        <p:nvSpPr>
          <p:cNvPr id="10" name="Text 8"/>
          <p:cNvSpPr/>
          <p:nvPr/>
        </p:nvSpPr>
        <p:spPr>
          <a:xfrm>
            <a:off x="2697480" y="2468880"/>
            <a:ext cx="1737360" cy="457200"/>
          </a:xfrm>
          <a:prstGeom prst="rect">
            <a:avLst/>
          </a:prstGeom>
          <a:noFill/>
          <a:ln/>
        </p:spPr>
        <p:txBody>
          <a:bodyPr wrap="square" rtlCol="0" anchor="t"/>
          <a:lstStyle/>
          <a:p>
            <a:pPr algn="ctr" indent="0" marL="0">
              <a:lnSpc>
                <a:spcPct val="120000"/>
              </a:lnSpc>
              <a:buNone/>
            </a:pPr>
            <a:r>
              <a:rPr lang="en-US" sz="900" dirty="0">
                <a:solidFill>
                  <a:srgbClr val="8B95A5"/>
                </a:solidFill>
                <a:latin typeface="Inter" pitchFamily="34" charset="0"/>
                <a:ea typeface="Inter" pitchFamily="34" charset="-122"/>
                <a:cs typeface="Inter" pitchFamily="34" charset="-120"/>
              </a:rPr>
              <a:t>What could</a:t>
            </a:r>
            <a:endParaRPr lang="en-US" sz="900" dirty="0"/>
          </a:p>
          <a:p>
            <a:pPr algn="ctr" indent="0" marL="0">
              <a:lnSpc>
                <a:spcPct val="120000"/>
              </a:lnSpc>
              <a:buNone/>
            </a:pPr>
            <a:r>
              <a:rPr lang="en-US" sz="900" dirty="0">
                <a:solidFill>
                  <a:srgbClr val="8B95A5"/>
                </a:solidFill>
                <a:latin typeface="Inter" pitchFamily="34" charset="0"/>
                <a:ea typeface="Inter" pitchFamily="34" charset="-122"/>
                <a:cs typeface="Inter" pitchFamily="34" charset="-120"/>
              </a:rPr>
              <a:t>go wrong?</a:t>
            </a:r>
            <a:endParaRPr lang="en-US" sz="900" dirty="0"/>
          </a:p>
        </p:txBody>
      </p:sp>
      <p:sp>
        <p:nvSpPr>
          <p:cNvPr id="11" name="Text 9"/>
          <p:cNvSpPr/>
          <p:nvPr/>
        </p:nvSpPr>
        <p:spPr>
          <a:xfrm>
            <a:off x="4480560" y="1828800"/>
            <a:ext cx="365760" cy="1188720"/>
          </a:xfrm>
          <a:prstGeom prst="rect">
            <a:avLst/>
          </a:prstGeom>
          <a:noFill/>
          <a:ln/>
        </p:spPr>
        <p:txBody>
          <a:bodyPr wrap="square" rtlCol="0" anchor="ctr"/>
          <a:lstStyle/>
          <a:p>
            <a:pPr algn="ctr" indent="0" marL="0">
              <a:buNone/>
            </a:pPr>
            <a:r>
              <a:rPr lang="en-US" sz="2000" dirty="0">
                <a:solidFill>
                  <a:srgbClr val="0B8585"/>
                </a:solidFill>
                <a:latin typeface="Inter" pitchFamily="34" charset="0"/>
                <a:ea typeface="Inter" pitchFamily="34" charset="-122"/>
                <a:cs typeface="Inter" pitchFamily="34" charset="-120"/>
              </a:rPr>
              <a:t>→</a:t>
            </a:r>
            <a:endParaRPr lang="en-US" sz="2000" dirty="0"/>
          </a:p>
        </p:txBody>
      </p:sp>
      <p:sp>
        <p:nvSpPr>
          <p:cNvPr id="12" name="Shape 10"/>
          <p:cNvSpPr/>
          <p:nvPr/>
        </p:nvSpPr>
        <p:spPr>
          <a:xfrm>
            <a:off x="4892040" y="1828800"/>
            <a:ext cx="1737360" cy="1188720"/>
          </a:xfrm>
          <a:prstGeom prst="roundRect">
            <a:avLst>
              <a:gd name="adj" fmla="val 6154"/>
            </a:avLst>
          </a:prstGeom>
          <a:solidFill>
            <a:srgbClr val="0B8585">
              <a:alpha val="12000"/>
            </a:srgbClr>
          </a:solidFill>
          <a:ln w="12700">
            <a:solidFill>
              <a:srgbClr val="0FAFAF">
                <a:alpha val="30000"/>
              </a:srgbClr>
            </a:solidFill>
            <a:prstDash val="solid"/>
          </a:ln>
        </p:spPr>
      </p:sp>
      <p:sp>
        <p:nvSpPr>
          <p:cNvPr id="13" name="Text 11"/>
          <p:cNvSpPr/>
          <p:nvPr/>
        </p:nvSpPr>
        <p:spPr>
          <a:xfrm>
            <a:off x="4892040" y="1965960"/>
            <a:ext cx="1737360" cy="502920"/>
          </a:xfrm>
          <a:prstGeom prst="rect">
            <a:avLst/>
          </a:prstGeom>
          <a:noFill/>
          <a:ln/>
        </p:spPr>
        <p:txBody>
          <a:bodyPr wrap="square" rtlCol="0" anchor="b"/>
          <a:lstStyle/>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Evidence</a:t>
            </a:r>
            <a:endParaRPr lang="en-US" sz="1100" dirty="0"/>
          </a:p>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Retrieval</a:t>
            </a:r>
            <a:endParaRPr lang="en-US" sz="1100" dirty="0"/>
          </a:p>
        </p:txBody>
      </p:sp>
      <p:sp>
        <p:nvSpPr>
          <p:cNvPr id="14" name="Text 12"/>
          <p:cNvSpPr/>
          <p:nvPr/>
        </p:nvSpPr>
        <p:spPr>
          <a:xfrm>
            <a:off x="4892040" y="2468880"/>
            <a:ext cx="1737360" cy="457200"/>
          </a:xfrm>
          <a:prstGeom prst="rect">
            <a:avLst/>
          </a:prstGeom>
          <a:noFill/>
          <a:ln/>
        </p:spPr>
        <p:txBody>
          <a:bodyPr wrap="square" rtlCol="0" anchor="t"/>
          <a:lstStyle/>
          <a:p>
            <a:pPr algn="ctr" indent="0" marL="0">
              <a:lnSpc>
                <a:spcPct val="120000"/>
              </a:lnSpc>
              <a:buNone/>
            </a:pPr>
            <a:r>
              <a:rPr lang="en-US" sz="900" dirty="0">
                <a:solidFill>
                  <a:srgbClr val="8B95A5"/>
                </a:solidFill>
                <a:latin typeface="Inter" pitchFamily="34" charset="0"/>
                <a:ea typeface="Inter" pitchFamily="34" charset="-122"/>
                <a:cs typeface="Inter" pitchFamily="34" charset="-120"/>
              </a:rPr>
              <a:t>BC clinical</a:t>
            </a:r>
            <a:endParaRPr lang="en-US" sz="900" dirty="0"/>
          </a:p>
          <a:p>
            <a:pPr algn="ctr" indent="0" marL="0">
              <a:lnSpc>
                <a:spcPct val="120000"/>
              </a:lnSpc>
              <a:buNone/>
            </a:pPr>
            <a:r>
              <a:rPr lang="en-US" sz="900" dirty="0">
                <a:solidFill>
                  <a:srgbClr val="8B95A5"/>
                </a:solidFill>
                <a:latin typeface="Inter" pitchFamily="34" charset="0"/>
                <a:ea typeface="Inter" pitchFamily="34" charset="-122"/>
                <a:cs typeface="Inter" pitchFamily="34" charset="-120"/>
              </a:rPr>
              <a:t>guidelines via RAG</a:t>
            </a:r>
            <a:endParaRPr lang="en-US" sz="900" dirty="0"/>
          </a:p>
        </p:txBody>
      </p:sp>
      <p:sp>
        <p:nvSpPr>
          <p:cNvPr id="15" name="Text 13"/>
          <p:cNvSpPr/>
          <p:nvPr/>
        </p:nvSpPr>
        <p:spPr>
          <a:xfrm>
            <a:off x="6675120" y="1828800"/>
            <a:ext cx="365760" cy="1188720"/>
          </a:xfrm>
          <a:prstGeom prst="rect">
            <a:avLst/>
          </a:prstGeom>
          <a:noFill/>
          <a:ln/>
        </p:spPr>
        <p:txBody>
          <a:bodyPr wrap="square" rtlCol="0" anchor="ctr"/>
          <a:lstStyle/>
          <a:p>
            <a:pPr algn="ctr" indent="0" marL="0">
              <a:buNone/>
            </a:pPr>
            <a:r>
              <a:rPr lang="en-US" sz="2000" dirty="0">
                <a:solidFill>
                  <a:srgbClr val="0B8585"/>
                </a:solidFill>
                <a:latin typeface="Inter" pitchFamily="34" charset="0"/>
                <a:ea typeface="Inter" pitchFamily="34" charset="-122"/>
                <a:cs typeface="Inter" pitchFamily="34" charset="-120"/>
              </a:rPr>
              <a:t>→</a:t>
            </a:r>
            <a:endParaRPr lang="en-US" sz="2000" dirty="0"/>
          </a:p>
        </p:txBody>
      </p:sp>
      <p:sp>
        <p:nvSpPr>
          <p:cNvPr id="16" name="Shape 14"/>
          <p:cNvSpPr/>
          <p:nvPr/>
        </p:nvSpPr>
        <p:spPr>
          <a:xfrm>
            <a:off x="7086600" y="1828800"/>
            <a:ext cx="1737360" cy="1188720"/>
          </a:xfrm>
          <a:prstGeom prst="roundRect">
            <a:avLst>
              <a:gd name="adj" fmla="val 6154"/>
            </a:avLst>
          </a:prstGeom>
          <a:solidFill>
            <a:srgbClr val="0B8585">
              <a:alpha val="12000"/>
            </a:srgbClr>
          </a:solidFill>
          <a:ln w="12700">
            <a:solidFill>
              <a:srgbClr val="0FAFAF">
                <a:alpha val="30000"/>
              </a:srgbClr>
            </a:solidFill>
            <a:prstDash val="solid"/>
          </a:ln>
        </p:spPr>
      </p:sp>
      <p:sp>
        <p:nvSpPr>
          <p:cNvPr id="17" name="Text 15"/>
          <p:cNvSpPr/>
          <p:nvPr/>
        </p:nvSpPr>
        <p:spPr>
          <a:xfrm>
            <a:off x="7086600" y="1965960"/>
            <a:ext cx="1737360" cy="502920"/>
          </a:xfrm>
          <a:prstGeom prst="rect">
            <a:avLst/>
          </a:prstGeom>
          <a:noFill/>
          <a:ln/>
        </p:spPr>
        <p:txBody>
          <a:bodyPr wrap="square" rtlCol="0" anchor="b"/>
          <a:lstStyle/>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AI</a:t>
            </a:r>
            <a:endParaRPr lang="en-US" sz="1100" dirty="0"/>
          </a:p>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Structuring</a:t>
            </a:r>
            <a:endParaRPr lang="en-US" sz="1100" dirty="0"/>
          </a:p>
        </p:txBody>
      </p:sp>
      <p:sp>
        <p:nvSpPr>
          <p:cNvPr id="18" name="Text 16"/>
          <p:cNvSpPr/>
          <p:nvPr/>
        </p:nvSpPr>
        <p:spPr>
          <a:xfrm>
            <a:off x="7086600" y="2468880"/>
            <a:ext cx="1737360" cy="457200"/>
          </a:xfrm>
          <a:prstGeom prst="rect">
            <a:avLst/>
          </a:prstGeom>
          <a:noFill/>
          <a:ln/>
        </p:spPr>
        <p:txBody>
          <a:bodyPr wrap="square" rtlCol="0" anchor="t"/>
          <a:lstStyle/>
          <a:p>
            <a:pPr algn="ctr" indent="0" marL="0">
              <a:lnSpc>
                <a:spcPct val="120000"/>
              </a:lnSpc>
              <a:buNone/>
            </a:pPr>
            <a:r>
              <a:rPr lang="en-US" sz="900" dirty="0">
                <a:solidFill>
                  <a:srgbClr val="8B95A5"/>
                </a:solidFill>
                <a:latin typeface="Inter" pitchFamily="34" charset="0"/>
                <a:ea typeface="Inter" pitchFamily="34" charset="-122"/>
                <a:cs typeface="Inter" pitchFamily="34" charset="-120"/>
              </a:rPr>
              <a:t>Claude connects</a:t>
            </a:r>
            <a:endParaRPr lang="en-US" sz="900" dirty="0"/>
          </a:p>
          <a:p>
            <a:pPr algn="ctr" indent="0" marL="0">
              <a:lnSpc>
                <a:spcPct val="120000"/>
              </a:lnSpc>
              <a:buNone/>
            </a:pPr>
            <a:r>
              <a:rPr lang="en-US" sz="900" dirty="0">
                <a:solidFill>
                  <a:srgbClr val="8B95A5"/>
                </a:solidFill>
                <a:latin typeface="Inter" pitchFamily="34" charset="0"/>
                <a:ea typeface="Inter" pitchFamily="34" charset="-122"/>
                <a:cs typeface="Inter" pitchFamily="34" charset="-120"/>
              </a:rPr>
              <a:t>patient → guidelines</a:t>
            </a:r>
            <a:endParaRPr lang="en-US" sz="900" dirty="0"/>
          </a:p>
        </p:txBody>
      </p:sp>
      <p:sp>
        <p:nvSpPr>
          <p:cNvPr id="19" name="Text 17"/>
          <p:cNvSpPr/>
          <p:nvPr/>
        </p:nvSpPr>
        <p:spPr>
          <a:xfrm>
            <a:off x="8869680" y="1828800"/>
            <a:ext cx="365760" cy="1188720"/>
          </a:xfrm>
          <a:prstGeom prst="rect">
            <a:avLst/>
          </a:prstGeom>
          <a:noFill/>
          <a:ln/>
        </p:spPr>
        <p:txBody>
          <a:bodyPr wrap="square" rtlCol="0" anchor="ctr"/>
          <a:lstStyle/>
          <a:p>
            <a:pPr algn="ctr" indent="0" marL="0">
              <a:buNone/>
            </a:pPr>
            <a:r>
              <a:rPr lang="en-US" sz="2000" dirty="0">
                <a:solidFill>
                  <a:srgbClr val="0B8585"/>
                </a:solidFill>
                <a:latin typeface="Inter" pitchFamily="34" charset="0"/>
                <a:ea typeface="Inter" pitchFamily="34" charset="-122"/>
                <a:cs typeface="Inter" pitchFamily="34" charset="-120"/>
              </a:rPr>
              <a:t>→</a:t>
            </a:r>
            <a:endParaRPr lang="en-US" sz="2000" dirty="0"/>
          </a:p>
        </p:txBody>
      </p:sp>
      <p:sp>
        <p:nvSpPr>
          <p:cNvPr id="20" name="Shape 18"/>
          <p:cNvSpPr/>
          <p:nvPr/>
        </p:nvSpPr>
        <p:spPr>
          <a:xfrm>
            <a:off x="9281160" y="1828800"/>
            <a:ext cx="1737360" cy="1188720"/>
          </a:xfrm>
          <a:prstGeom prst="roundRect">
            <a:avLst>
              <a:gd name="adj" fmla="val 6154"/>
            </a:avLst>
          </a:prstGeom>
          <a:solidFill>
            <a:srgbClr val="0B8585"/>
          </a:solidFill>
          <a:ln w="12700">
            <a:solidFill>
              <a:srgbClr val="0FAFAF"/>
            </a:solidFill>
            <a:prstDash val="solid"/>
          </a:ln>
          <a:effectLst>
            <a:outerShdw sx="100000" sy="100000" kx="0" ky="0" algn="bl" rotWithShape="0" blurRad="152400" dist="50800" dir="16200000">
              <a:srgbClr val="0B8585">
                <a:alpha val="35000"/>
              </a:srgbClr>
            </a:outerShdw>
          </a:effectLst>
        </p:spPr>
      </p:sp>
      <p:sp>
        <p:nvSpPr>
          <p:cNvPr id="21" name="Text 19"/>
          <p:cNvSpPr/>
          <p:nvPr/>
        </p:nvSpPr>
        <p:spPr>
          <a:xfrm>
            <a:off x="9281160" y="1965960"/>
            <a:ext cx="1737360" cy="502920"/>
          </a:xfrm>
          <a:prstGeom prst="rect">
            <a:avLst/>
          </a:prstGeom>
          <a:noFill/>
          <a:ln/>
        </p:spPr>
        <p:txBody>
          <a:bodyPr wrap="square" rtlCol="0" anchor="b"/>
          <a:lstStyle/>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Deterministic</a:t>
            </a:r>
            <a:endParaRPr lang="en-US" sz="1100" dirty="0"/>
          </a:p>
          <a:p>
            <a:pPr algn="ctr" indent="0" marL="0">
              <a:lnSpc>
                <a:spcPct val="120000"/>
              </a:lnSpc>
              <a:buNone/>
            </a:pPr>
            <a:r>
              <a:rPr lang="en-US" sz="1100" b="1" dirty="0">
                <a:solidFill>
                  <a:srgbClr val="FAFAF8"/>
                </a:solidFill>
                <a:latin typeface="Inter" pitchFamily="34" charset="0"/>
                <a:ea typeface="Inter" pitchFamily="34" charset="-122"/>
                <a:cs typeface="Inter" pitchFamily="34" charset="-120"/>
              </a:rPr>
              <a:t>Comparator</a:t>
            </a:r>
            <a:endParaRPr lang="en-US" sz="1100" dirty="0"/>
          </a:p>
        </p:txBody>
      </p:sp>
      <p:sp>
        <p:nvSpPr>
          <p:cNvPr id="22" name="Text 20"/>
          <p:cNvSpPr/>
          <p:nvPr/>
        </p:nvSpPr>
        <p:spPr>
          <a:xfrm>
            <a:off x="9281160" y="2468880"/>
            <a:ext cx="1737360" cy="457200"/>
          </a:xfrm>
          <a:prstGeom prst="rect">
            <a:avLst/>
          </a:prstGeom>
          <a:noFill/>
          <a:ln/>
        </p:spPr>
        <p:txBody>
          <a:bodyPr wrap="square" rtlCol="0" anchor="t"/>
          <a:lstStyle/>
          <a:p>
            <a:pPr algn="ctr" indent="0" marL="0">
              <a:lnSpc>
                <a:spcPct val="120000"/>
              </a:lnSpc>
              <a:buNone/>
            </a:pPr>
            <a:r>
              <a:rPr lang="en-US" sz="900" dirty="0">
                <a:solidFill>
                  <a:srgbClr val="FFFFFF">
                    <a:alpha val="80000"/>
                  </a:srgbClr>
                </a:solidFill>
                <a:latin typeface="Inter" pitchFamily="34" charset="0"/>
                <a:ea typeface="Inter" pitchFamily="34" charset="-122"/>
                <a:cs typeface="Inter" pitchFamily="34" charset="-120"/>
              </a:rPr>
              <a:t>Pure math.</a:t>
            </a:r>
            <a:endParaRPr lang="en-US" sz="900" dirty="0"/>
          </a:p>
          <a:p>
            <a:pPr algn="ctr" indent="0" marL="0">
              <a:lnSpc>
                <a:spcPct val="120000"/>
              </a:lnSpc>
              <a:buNone/>
            </a:pPr>
            <a:r>
              <a:rPr lang="en-US" sz="900" dirty="0">
                <a:solidFill>
                  <a:srgbClr val="FFFFFF">
                    <a:alpha val="80000"/>
                  </a:srgbClr>
                </a:solidFill>
                <a:latin typeface="Inter" pitchFamily="34" charset="0"/>
                <a:ea typeface="Inter" pitchFamily="34" charset="-122"/>
                <a:cs typeface="Inter" pitchFamily="34" charset="-120"/>
              </a:rPr>
              <a:t>No hallucination.</a:t>
            </a:r>
            <a:endParaRPr lang="en-US" sz="900" dirty="0"/>
          </a:p>
        </p:txBody>
      </p:sp>
      <p:sp>
        <p:nvSpPr>
          <p:cNvPr id="23" name="Shape 21"/>
          <p:cNvSpPr/>
          <p:nvPr/>
        </p:nvSpPr>
        <p:spPr>
          <a:xfrm>
            <a:off x="685800" y="3657600"/>
            <a:ext cx="36576" cy="1371600"/>
          </a:xfrm>
          <a:prstGeom prst="rect">
            <a:avLst/>
          </a:prstGeom>
          <a:solidFill>
            <a:srgbClr val="0B8585"/>
          </a:solidFill>
          <a:ln/>
        </p:spPr>
      </p:sp>
      <p:sp>
        <p:nvSpPr>
          <p:cNvPr id="24" name="Shape 22"/>
          <p:cNvSpPr/>
          <p:nvPr/>
        </p:nvSpPr>
        <p:spPr>
          <a:xfrm>
            <a:off x="749808" y="3657600"/>
            <a:ext cx="5029200" cy="1371600"/>
          </a:xfrm>
          <a:prstGeom prst="roundRect">
            <a:avLst>
              <a:gd name="adj" fmla="val 4000"/>
            </a:avLst>
          </a:prstGeom>
          <a:solidFill>
            <a:srgbClr val="0B8585">
              <a:alpha val="6000"/>
            </a:srgbClr>
          </a:solidFill>
          <a:ln/>
        </p:spPr>
      </p:sp>
      <p:sp>
        <p:nvSpPr>
          <p:cNvPr id="25" name="Text 23"/>
          <p:cNvSpPr/>
          <p:nvPr/>
        </p:nvSpPr>
        <p:spPr>
          <a:xfrm>
            <a:off x="960120" y="3749040"/>
            <a:ext cx="4663440" cy="1005840"/>
          </a:xfrm>
          <a:prstGeom prst="rect">
            <a:avLst/>
          </a:prstGeom>
          <a:noFill/>
          <a:ln/>
        </p:spPr>
        <p:txBody>
          <a:bodyPr wrap="square" rtlCol="0" anchor="ctr"/>
          <a:lstStyle/>
          <a:p>
            <a:pPr indent="0" marL="0">
              <a:lnSpc>
                <a:spcPct val="150000"/>
              </a:lnSpc>
              <a:buNone/>
            </a:pPr>
            <a:r>
              <a:rPr lang="en-US" sz="1400" i="1" dirty="0">
                <a:solidFill>
                  <a:srgbClr val="FAFAF8"/>
                </a:solidFill>
                <a:latin typeface="Inter" pitchFamily="34" charset="0"/>
                <a:ea typeface="Inter" pitchFamily="34" charset="-122"/>
                <a:cs typeface="Inter" pitchFamily="34" charset="-120"/>
              </a:rPr>
              <a:t>Guidelines say what's needed.
</a:t>
            </a:r>
            <a:pPr indent="0" marL="0">
              <a:lnSpc>
                <a:spcPct val="150000"/>
              </a:lnSpc>
              <a:buNone/>
            </a:pPr>
            <a:r>
              <a:rPr lang="en-US" sz="1400" i="1" dirty="0">
                <a:solidFill>
                  <a:srgbClr val="FAFAF8"/>
                </a:solidFill>
                <a:latin typeface="Inter" pitchFamily="34" charset="0"/>
                <a:ea typeface="Inter" pitchFamily="34" charset="-122"/>
                <a:cs typeface="Inter" pitchFamily="34" charset="-120"/>
              </a:rPr>
              <a:t>Patient data shows what's been done.
</a:t>
            </a:r>
            <a:pPr indent="0" marL="0">
              <a:lnSpc>
                <a:spcPct val="150000"/>
              </a:lnSpc>
              <a:buNone/>
            </a:pPr>
            <a:r>
              <a:rPr lang="en-US" sz="1400" b="1" i="1" dirty="0">
                <a:solidFill>
                  <a:srgbClr val="FAFAF8"/>
                </a:solidFill>
                <a:latin typeface="Inter" pitchFamily="34" charset="0"/>
                <a:ea typeface="Inter" pitchFamily="34" charset="-122"/>
                <a:cs typeface="Inter" pitchFamily="34" charset="-120"/>
              </a:rPr>
              <a:t>Arithmetic determines urgency.</a:t>
            </a:r>
            <a:endParaRPr lang="en-US" sz="1400" dirty="0"/>
          </a:p>
        </p:txBody>
      </p:sp>
      <p:sp>
        <p:nvSpPr>
          <p:cNvPr id="26" name="Text 24"/>
          <p:cNvSpPr/>
          <p:nvPr/>
        </p:nvSpPr>
        <p:spPr>
          <a:xfrm>
            <a:off x="960120" y="4709160"/>
            <a:ext cx="4663440" cy="274320"/>
          </a:xfrm>
          <a:prstGeom prst="rect">
            <a:avLst/>
          </a:prstGeom>
          <a:noFill/>
          <a:ln/>
        </p:spPr>
        <p:txBody>
          <a:bodyPr wrap="square" rtlCol="0" anchor="ctr"/>
          <a:lstStyle/>
          <a:p>
            <a:pPr indent="0" marL="0">
              <a:buNone/>
            </a:pPr>
            <a:r>
              <a:rPr lang="en-US" sz="1000" dirty="0">
                <a:solidFill>
                  <a:srgbClr val="8B95A5"/>
                </a:solidFill>
                <a:latin typeface="Inter" pitchFamily="34" charset="0"/>
                <a:ea typeface="Inter" pitchFamily="34" charset="-122"/>
                <a:cs typeface="Inter" pitchFamily="34" charset="-120"/>
              </a:rPr>
              <a:t>No AI on the critical decision path.</a:t>
            </a:r>
            <a:endParaRPr lang="en-US" sz="1000" dirty="0"/>
          </a:p>
        </p:txBody>
      </p:sp>
      <p:sp>
        <p:nvSpPr>
          <p:cNvPr id="27" name="Text 25"/>
          <p:cNvSpPr/>
          <p:nvPr/>
        </p:nvSpPr>
        <p:spPr>
          <a:xfrm>
            <a:off x="6217920" y="3749040"/>
            <a:ext cx="5029200" cy="457200"/>
          </a:xfrm>
          <a:prstGeom prst="rect">
            <a:avLst/>
          </a:prstGeom>
          <a:noFill/>
          <a:ln/>
        </p:spPr>
        <p:txBody>
          <a:bodyPr wrap="square" rtlCol="0" anchor="ctr"/>
          <a:lstStyle/>
          <a:p>
            <a:pPr indent="0" marL="0">
              <a:lnSpc>
                <a:spcPct val="140000"/>
              </a:lnSpc>
              <a:buNone/>
            </a:pPr>
            <a:r>
              <a:rPr lang="en-US" sz="1300" dirty="0">
                <a:solidFill>
                  <a:srgbClr val="E8E6E1"/>
                </a:solidFill>
                <a:latin typeface="Inter" pitchFamily="34" charset="0"/>
                <a:ea typeface="Inter" pitchFamily="34" charset="-122"/>
                <a:cs typeface="Inter" pitchFamily="34" charset="-120"/>
              </a:rPr>
              <a:t>Every recommendation </a:t>
            </a:r>
            <a:pPr indent="0" marL="0">
              <a:lnSpc>
                <a:spcPct val="140000"/>
              </a:lnSpc>
              <a:buNone/>
            </a:pPr>
            <a:r>
              <a:rPr lang="en-US" sz="1300" b="1" dirty="0">
                <a:solidFill>
                  <a:srgbClr val="0FAFAF"/>
                </a:solidFill>
                <a:latin typeface="Inter" pitchFamily="34" charset="0"/>
                <a:ea typeface="Inter" pitchFamily="34" charset="-122"/>
                <a:cs typeface="Inter" pitchFamily="34" charset="-120"/>
              </a:rPr>
              <a:t>cited</a:t>
            </a:r>
            <a:pPr indent="0" marL="0">
              <a:lnSpc>
                <a:spcPct val="140000"/>
              </a:lnSpc>
              <a:buNone/>
            </a:pPr>
            <a:r>
              <a:rPr lang="en-US" sz="1300" dirty="0">
                <a:solidFill>
                  <a:srgbClr val="E8E6E1"/>
                </a:solidFill>
                <a:latin typeface="Inter" pitchFamily="34" charset="0"/>
                <a:ea typeface="Inter" pitchFamily="34" charset="-122"/>
                <a:cs typeface="Inter" pitchFamily="34" charset="-120"/>
              </a:rPr>
              <a:t>. Every overdue status </a:t>
            </a:r>
            <a:pPr indent="0" marL="0">
              <a:lnSpc>
                <a:spcPct val="140000"/>
              </a:lnSpc>
              <a:buNone/>
            </a:pPr>
            <a:r>
              <a:rPr lang="en-US" sz="1300" b="1" dirty="0">
                <a:solidFill>
                  <a:srgbClr val="0FAFAF"/>
                </a:solidFill>
                <a:latin typeface="Inter" pitchFamily="34" charset="0"/>
                <a:ea typeface="Inter" pitchFamily="34" charset="-122"/>
                <a:cs typeface="Inter" pitchFamily="34" charset="-120"/>
              </a:rPr>
              <a:t>calculated</a:t>
            </a:r>
            <a:pPr indent="0" marL="0">
              <a:lnSpc>
                <a:spcPct val="140000"/>
              </a:lnSpc>
              <a:buNone/>
            </a:pPr>
            <a:r>
              <a:rPr lang="en-US" sz="1300" dirty="0">
                <a:solidFill>
                  <a:srgbClr val="E8E6E1"/>
                </a:solidFill>
                <a:latin typeface="Inter" pitchFamily="34" charset="0"/>
                <a:ea typeface="Inter" pitchFamily="34" charset="-122"/>
                <a:cs typeface="Inter" pitchFamily="34" charset="-120"/>
              </a:rPr>
              <a:t>, not predicted.</a:t>
            </a:r>
            <a:endParaRPr lang="en-US" sz="1300" dirty="0"/>
          </a:p>
        </p:txBody>
      </p:sp>
      <p:sp>
        <p:nvSpPr>
          <p:cNvPr id="28" name="Text 26"/>
          <p:cNvSpPr/>
          <p:nvPr/>
        </p:nvSpPr>
        <p:spPr>
          <a:xfrm>
            <a:off x="6217920" y="4297680"/>
            <a:ext cx="5029200" cy="457200"/>
          </a:xfrm>
          <a:prstGeom prst="rect">
            <a:avLst/>
          </a:prstGeom>
          <a:noFill/>
          <a:ln/>
        </p:spPr>
        <p:txBody>
          <a:bodyPr wrap="square" rtlCol="0" anchor="ctr"/>
          <a:lstStyle/>
          <a:p>
            <a:pPr indent="0" marL="0">
              <a:lnSpc>
                <a:spcPct val="130000"/>
              </a:lnSpc>
              <a:buNone/>
            </a:pPr>
            <a:r>
              <a:rPr lang="en-US" sz="1300" dirty="0">
                <a:solidFill>
                  <a:srgbClr val="E8E6E1"/>
                </a:solidFill>
                <a:latin typeface="Inter" pitchFamily="34" charset="0"/>
                <a:ea typeface="Inter" pitchFamily="34" charset="-122"/>
                <a:cs typeface="Inter" pitchFamily="34" charset="-120"/>
              </a:rPr>
              <a:t>Our AI doesn't replace doctors. It replaces the sticky note that says </a:t>
            </a:r>
            <a:pPr indent="0" marL="0">
              <a:lnSpc>
                <a:spcPct val="130000"/>
              </a:lnSpc>
              <a:buNone/>
            </a:pPr>
            <a:r>
              <a:rPr lang="en-US" sz="1300" b="1" dirty="0">
                <a:solidFill>
                  <a:srgbClr val="0FAFAF"/>
                </a:solidFill>
                <a:latin typeface="Inter" pitchFamily="34" charset="0"/>
                <a:ea typeface="Inter" pitchFamily="34" charset="-122"/>
                <a:cs typeface="Inter" pitchFamily="34" charset="-120"/>
              </a:rPr>
              <a:t>"CHECK MRS. CHEN'S LABS???"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2286000"/>
            <a:ext cx="4572000" cy="32004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LIVE DEMO</a:t>
            </a:r>
            <a:endParaRPr lang="en-US" sz="1000" dirty="0"/>
          </a:p>
        </p:txBody>
      </p:sp>
      <p:sp>
        <p:nvSpPr>
          <p:cNvPr id="3" name="Text 1"/>
          <p:cNvSpPr/>
          <p:nvPr/>
        </p:nvSpPr>
        <p:spPr>
          <a:xfrm>
            <a:off x="457200" y="2743200"/>
            <a:ext cx="11247120" cy="914400"/>
          </a:xfrm>
          <a:prstGeom prst="rect">
            <a:avLst/>
          </a:prstGeom>
          <a:noFill/>
          <a:ln/>
        </p:spPr>
        <p:txBody>
          <a:bodyPr wrap="square" rtlCol="0" anchor="ctr"/>
          <a:lstStyle/>
          <a:p>
            <a:pPr algn="ctr" indent="0" marL="0">
              <a:buNone/>
            </a:pPr>
            <a:r>
              <a:rPr lang="en-US" sz="4200" b="1" dirty="0">
                <a:solidFill>
                  <a:srgbClr val="FAFAF8"/>
                </a:solidFill>
                <a:latin typeface="Inter" pitchFamily="34" charset="0"/>
                <a:ea typeface="Inter" pitchFamily="34" charset="-122"/>
                <a:cs typeface="Inter" pitchFamily="34" charset="-120"/>
              </a:rPr>
              <a:t>Let's see it work.</a:t>
            </a:r>
            <a:endParaRPr lang="en-US" sz="4200" dirty="0"/>
          </a:p>
        </p:txBody>
      </p:sp>
      <p:sp>
        <p:nvSpPr>
          <p:cNvPr id="4" name="Text 2"/>
          <p:cNvSpPr/>
          <p:nvPr/>
        </p:nvSpPr>
        <p:spPr>
          <a:xfrm>
            <a:off x="457200" y="3840480"/>
            <a:ext cx="11247120" cy="457200"/>
          </a:xfrm>
          <a:prstGeom prst="rect">
            <a:avLst/>
          </a:prstGeom>
          <a:noFill/>
          <a:ln/>
        </p:spPr>
        <p:txBody>
          <a:bodyPr wrap="square" rtlCol="0" anchor="ctr"/>
          <a:lstStyle/>
          <a:p>
            <a:pPr algn="ctr" indent="0" marL="0">
              <a:buNone/>
            </a:pPr>
            <a:r>
              <a:rPr lang="en-US" sz="1600" dirty="0">
                <a:solidFill>
                  <a:srgbClr val="8B95A5"/>
                </a:solidFill>
                <a:latin typeface="Inter" pitchFamily="34" charset="0"/>
                <a:ea typeface="Inter" pitchFamily="34" charset="-122"/>
                <a:cs typeface="Inter" pitchFamily="34" charset="-120"/>
              </a:rPr>
              <a:t>Dashboard  →  Patient drill-down  →  Agent query  →  Patient navigator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411480"/>
            <a:ext cx="4572000" cy="32004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WHY THIS WORKS</a:t>
            </a:r>
            <a:endParaRPr lang="en-US" sz="1000" dirty="0"/>
          </a:p>
        </p:txBody>
      </p:sp>
      <p:sp>
        <p:nvSpPr>
          <p:cNvPr id="3" name="Text 1"/>
          <p:cNvSpPr/>
          <p:nvPr/>
        </p:nvSpPr>
        <p:spPr>
          <a:xfrm>
            <a:off x="685800" y="777240"/>
            <a:ext cx="10789920" cy="731520"/>
          </a:xfrm>
          <a:prstGeom prst="rect">
            <a:avLst/>
          </a:prstGeom>
          <a:noFill/>
          <a:ln/>
        </p:spPr>
        <p:txBody>
          <a:bodyPr wrap="square" rtlCol="0" anchor="ctr"/>
          <a:lstStyle/>
          <a:p>
            <a:pPr indent="0" marL="0">
              <a:lnSpc>
                <a:spcPct val="110000"/>
              </a:lnSpc>
              <a:buNone/>
            </a:pPr>
            <a:r>
              <a:rPr lang="en-US" sz="3200" b="1" dirty="0">
                <a:solidFill>
                  <a:srgbClr val="FAFAF8"/>
                </a:solidFill>
                <a:latin typeface="Inter" pitchFamily="34" charset="0"/>
                <a:ea typeface="Inter" pitchFamily="34" charset="-122"/>
                <a:cs typeface="Inter" pitchFamily="34" charset="-120"/>
              </a:rPr>
              <a:t>This isn't a prototype.</a:t>
            </a:r>
            <a:endParaRPr lang="en-US" sz="3200" dirty="0"/>
          </a:p>
        </p:txBody>
      </p:sp>
      <p:sp>
        <p:nvSpPr>
          <p:cNvPr id="4" name="Shape 2"/>
          <p:cNvSpPr/>
          <p:nvPr/>
        </p:nvSpPr>
        <p:spPr>
          <a:xfrm>
            <a:off x="640080" y="1737360"/>
            <a:ext cx="5212080" cy="1097280"/>
          </a:xfrm>
          <a:prstGeom prst="roundRect">
            <a:avLst>
              <a:gd name="adj" fmla="val 6667"/>
            </a:avLst>
          </a:prstGeom>
          <a:solidFill>
            <a:srgbClr val="FFFFFF">
              <a:alpha val="3000"/>
            </a:srgbClr>
          </a:solidFill>
          <a:ln w="12700">
            <a:solidFill>
              <a:srgbClr val="FFFFFF">
                <a:alpha val="8000"/>
              </a:srgbClr>
            </a:solidFill>
            <a:prstDash val="solid"/>
          </a:ln>
        </p:spPr>
      </p:sp>
      <p:sp>
        <p:nvSpPr>
          <p:cNvPr id="5" name="Text 3"/>
          <p:cNvSpPr/>
          <p:nvPr/>
        </p:nvSpPr>
        <p:spPr>
          <a:xfrm>
            <a:off x="822960" y="1847088"/>
            <a:ext cx="4846320" cy="27432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REAL DATA, REAL LOGIC</a:t>
            </a:r>
            <a:endParaRPr lang="en-US" sz="1000" dirty="0"/>
          </a:p>
        </p:txBody>
      </p:sp>
      <p:sp>
        <p:nvSpPr>
          <p:cNvPr id="6" name="Text 4"/>
          <p:cNvSpPr/>
          <p:nvPr/>
        </p:nvSpPr>
        <p:spPr>
          <a:xfrm>
            <a:off x="822960" y="2148840"/>
            <a:ext cx="4846320" cy="640080"/>
          </a:xfrm>
          <a:prstGeom prst="rect">
            <a:avLst/>
          </a:prstGeom>
          <a:noFill/>
          <a:ln/>
        </p:spPr>
        <p:txBody>
          <a:bodyPr wrap="square" rtlCol="0" anchor="ctr"/>
          <a:lstStyle/>
          <a:p>
            <a:pPr indent="0" marL="0">
              <a:lnSpc>
                <a:spcPct val="135000"/>
              </a:lnSpc>
              <a:buNone/>
            </a:pPr>
            <a:r>
              <a:rPr lang="en-US" sz="1200" dirty="0">
                <a:solidFill>
                  <a:srgbClr val="E8E6E1"/>
                </a:solidFill>
                <a:latin typeface="Inter" pitchFamily="34" charset="0"/>
                <a:ea typeface="Inter" pitchFamily="34" charset="-122"/>
                <a:cs typeface="Inter" pitchFamily="34" charset="-120"/>
              </a:rPr>
              <a:t>Tested against 2,000 Synthea patients. Same engine works against any EHR feed via FHIR.</a:t>
            </a:r>
            <a:endParaRPr lang="en-US" sz="1200" dirty="0"/>
          </a:p>
        </p:txBody>
      </p:sp>
      <p:sp>
        <p:nvSpPr>
          <p:cNvPr id="7" name="Shape 5"/>
          <p:cNvSpPr/>
          <p:nvPr/>
        </p:nvSpPr>
        <p:spPr>
          <a:xfrm>
            <a:off x="6217920" y="1737360"/>
            <a:ext cx="5212080" cy="1097280"/>
          </a:xfrm>
          <a:prstGeom prst="roundRect">
            <a:avLst>
              <a:gd name="adj" fmla="val 6667"/>
            </a:avLst>
          </a:prstGeom>
          <a:solidFill>
            <a:srgbClr val="FFFFFF">
              <a:alpha val="3000"/>
            </a:srgbClr>
          </a:solidFill>
          <a:ln w="12700">
            <a:solidFill>
              <a:srgbClr val="FFFFFF">
                <a:alpha val="8000"/>
              </a:srgbClr>
            </a:solidFill>
            <a:prstDash val="solid"/>
          </a:ln>
        </p:spPr>
      </p:sp>
      <p:sp>
        <p:nvSpPr>
          <p:cNvPr id="8" name="Text 6"/>
          <p:cNvSpPr/>
          <p:nvPr/>
        </p:nvSpPr>
        <p:spPr>
          <a:xfrm>
            <a:off x="6400800" y="1847088"/>
            <a:ext cx="4846320" cy="27432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CLINICIAN TRUST BY DESIGN</a:t>
            </a:r>
            <a:endParaRPr lang="en-US" sz="1000" dirty="0"/>
          </a:p>
        </p:txBody>
      </p:sp>
      <p:sp>
        <p:nvSpPr>
          <p:cNvPr id="9" name="Text 7"/>
          <p:cNvSpPr/>
          <p:nvPr/>
        </p:nvSpPr>
        <p:spPr>
          <a:xfrm>
            <a:off x="6400800" y="2148840"/>
            <a:ext cx="4846320" cy="640080"/>
          </a:xfrm>
          <a:prstGeom prst="rect">
            <a:avLst/>
          </a:prstGeom>
          <a:noFill/>
          <a:ln/>
        </p:spPr>
        <p:txBody>
          <a:bodyPr wrap="square" rtlCol="0" anchor="ctr"/>
          <a:lstStyle/>
          <a:p>
            <a:pPr indent="0" marL="0">
              <a:lnSpc>
                <a:spcPct val="135000"/>
              </a:lnSpc>
              <a:buNone/>
            </a:pPr>
            <a:r>
              <a:rPr lang="en-US" sz="1200" dirty="0">
                <a:solidFill>
                  <a:srgbClr val="E8E6E1"/>
                </a:solidFill>
                <a:latin typeface="Inter" pitchFamily="34" charset="0"/>
                <a:ea typeface="Inter" pitchFamily="34" charset="-122"/>
                <a:cs typeface="Inter" pitchFamily="34" charset="-120"/>
              </a:rPr>
              <a:t>Every recommendation cited against source guidelines. Every overdue status calculated, not predicted. Missing data flagged, never hidden.</a:t>
            </a:r>
            <a:endParaRPr lang="en-US" sz="1200" dirty="0"/>
          </a:p>
        </p:txBody>
      </p:sp>
      <p:sp>
        <p:nvSpPr>
          <p:cNvPr id="10" name="Shape 8"/>
          <p:cNvSpPr/>
          <p:nvPr/>
        </p:nvSpPr>
        <p:spPr>
          <a:xfrm>
            <a:off x="640080" y="3108960"/>
            <a:ext cx="5212080" cy="1097280"/>
          </a:xfrm>
          <a:prstGeom prst="roundRect">
            <a:avLst>
              <a:gd name="adj" fmla="val 6667"/>
            </a:avLst>
          </a:prstGeom>
          <a:solidFill>
            <a:srgbClr val="FFFFFF">
              <a:alpha val="3000"/>
            </a:srgbClr>
          </a:solidFill>
          <a:ln w="12700">
            <a:solidFill>
              <a:srgbClr val="FFFFFF">
                <a:alpha val="8000"/>
              </a:srgbClr>
            </a:solidFill>
            <a:prstDash val="solid"/>
          </a:ln>
        </p:spPr>
      </p:sp>
      <p:sp>
        <p:nvSpPr>
          <p:cNvPr id="11" name="Text 9"/>
          <p:cNvSpPr/>
          <p:nvPr/>
        </p:nvSpPr>
        <p:spPr>
          <a:xfrm>
            <a:off x="822960" y="3218688"/>
            <a:ext cx="4846320" cy="27432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BOTH SIDES OF THE PROBLEM</a:t>
            </a:r>
            <a:endParaRPr lang="en-US" sz="1000" dirty="0"/>
          </a:p>
        </p:txBody>
      </p:sp>
      <p:sp>
        <p:nvSpPr>
          <p:cNvPr id="12" name="Text 10"/>
          <p:cNvSpPr/>
          <p:nvPr/>
        </p:nvSpPr>
        <p:spPr>
          <a:xfrm>
            <a:off x="822960" y="3520440"/>
            <a:ext cx="4846320" cy="640080"/>
          </a:xfrm>
          <a:prstGeom prst="rect">
            <a:avLst/>
          </a:prstGeom>
          <a:noFill/>
          <a:ln/>
        </p:spPr>
        <p:txBody>
          <a:bodyPr wrap="square" rtlCol="0" anchor="ctr"/>
          <a:lstStyle/>
          <a:p>
            <a:pPr indent="0" marL="0">
              <a:lnSpc>
                <a:spcPct val="135000"/>
              </a:lnSpc>
              <a:buNone/>
            </a:pPr>
            <a:r>
              <a:rPr lang="en-US" sz="1200" dirty="0">
                <a:solidFill>
                  <a:srgbClr val="E8E6E1"/>
                </a:solidFill>
                <a:latin typeface="Inter" pitchFamily="34" charset="0"/>
                <a:ea typeface="Inter" pitchFamily="34" charset="-122"/>
                <a:cs typeface="Inter" pitchFamily="34" charset="-120"/>
              </a:rPr>
              <a:t>Clinicians get a proactive action queue. Unattached patients get cited next-step guidance and provider routing.</a:t>
            </a:r>
            <a:endParaRPr lang="en-US" sz="1200" dirty="0"/>
          </a:p>
        </p:txBody>
      </p:sp>
      <p:sp>
        <p:nvSpPr>
          <p:cNvPr id="13" name="Shape 11"/>
          <p:cNvSpPr/>
          <p:nvPr/>
        </p:nvSpPr>
        <p:spPr>
          <a:xfrm>
            <a:off x="6217920" y="3108960"/>
            <a:ext cx="5212080" cy="1097280"/>
          </a:xfrm>
          <a:prstGeom prst="roundRect">
            <a:avLst>
              <a:gd name="adj" fmla="val 6667"/>
            </a:avLst>
          </a:prstGeom>
          <a:solidFill>
            <a:srgbClr val="FFFFFF">
              <a:alpha val="3000"/>
            </a:srgbClr>
          </a:solidFill>
          <a:ln w="12700">
            <a:solidFill>
              <a:srgbClr val="FFFFFF">
                <a:alpha val="8000"/>
              </a:srgbClr>
            </a:solidFill>
            <a:prstDash val="solid"/>
          </a:ln>
        </p:spPr>
      </p:sp>
      <p:sp>
        <p:nvSpPr>
          <p:cNvPr id="14" name="Text 12"/>
          <p:cNvSpPr/>
          <p:nvPr/>
        </p:nvSpPr>
        <p:spPr>
          <a:xfrm>
            <a:off x="6400800" y="3218688"/>
            <a:ext cx="4846320" cy="274320"/>
          </a:xfrm>
          <a:prstGeom prst="rect">
            <a:avLst/>
          </a:prstGeom>
          <a:noFill/>
          <a:ln/>
        </p:spPr>
        <p:txBody>
          <a:bodyPr wrap="square" rtlCol="0" anchor="ctr"/>
          <a:lstStyle/>
          <a:p>
            <a:pPr indent="0" marL="0">
              <a:buNone/>
            </a:pPr>
            <a:r>
              <a:rPr lang="en-US" sz="1000" b="1" dirty="0">
                <a:solidFill>
                  <a:srgbClr val="0FAFAF"/>
                </a:solidFill>
                <a:latin typeface="Inter" pitchFamily="34" charset="0"/>
                <a:ea typeface="Inter" pitchFamily="34" charset="-122"/>
                <a:cs typeface="Inter" pitchFamily="34" charset="-120"/>
              </a:rPr>
              <a:t>ZERO ADOPTION FRICTION</a:t>
            </a:r>
            <a:endParaRPr lang="en-US" sz="1000" dirty="0"/>
          </a:p>
        </p:txBody>
      </p:sp>
      <p:sp>
        <p:nvSpPr>
          <p:cNvPr id="15" name="Text 13"/>
          <p:cNvSpPr/>
          <p:nvPr/>
        </p:nvSpPr>
        <p:spPr>
          <a:xfrm>
            <a:off x="6400800" y="3520440"/>
            <a:ext cx="4846320" cy="640080"/>
          </a:xfrm>
          <a:prstGeom prst="rect">
            <a:avLst/>
          </a:prstGeom>
          <a:noFill/>
          <a:ln/>
        </p:spPr>
        <p:txBody>
          <a:bodyPr wrap="square" rtlCol="0" anchor="ctr"/>
          <a:lstStyle/>
          <a:p>
            <a:pPr indent="0" marL="0">
              <a:lnSpc>
                <a:spcPct val="135000"/>
              </a:lnSpc>
              <a:buNone/>
            </a:pPr>
            <a:r>
              <a:rPr lang="en-US" sz="1200" dirty="0">
                <a:solidFill>
                  <a:srgbClr val="E8E6E1"/>
                </a:solidFill>
                <a:latin typeface="Inter" pitchFamily="34" charset="0"/>
                <a:ea typeface="Inter" pitchFamily="34" charset="-122"/>
                <a:cs typeface="Inter" pitchFamily="34" charset="-120"/>
              </a:rPr>
              <a:t>Red/yellow/green mirrors how clinicians already think. AI generates interactive charts and tables — not walls of text. No behaviour change.</a:t>
            </a:r>
            <a:endParaRPr lang="en-US" sz="1200" dirty="0"/>
          </a:p>
        </p:txBody>
      </p:sp>
      <p:sp>
        <p:nvSpPr>
          <p:cNvPr id="16" name="Text 14"/>
          <p:cNvSpPr/>
          <p:nvPr/>
        </p:nvSpPr>
        <p:spPr>
          <a:xfrm>
            <a:off x="685800" y="4663440"/>
            <a:ext cx="10515600" cy="640080"/>
          </a:xfrm>
          <a:prstGeom prst="rect">
            <a:avLst/>
          </a:prstGeom>
          <a:noFill/>
          <a:ln/>
        </p:spPr>
        <p:txBody>
          <a:bodyPr wrap="square" rtlCol="0" anchor="ctr"/>
          <a:lstStyle/>
          <a:p>
            <a:pPr indent="0" marL="0">
              <a:lnSpc>
                <a:spcPct val="130000"/>
              </a:lnSpc>
              <a:buNone/>
            </a:pPr>
            <a:r>
              <a:rPr lang="en-US" sz="1400" dirty="0">
                <a:solidFill>
                  <a:srgbClr val="8B95A5"/>
                </a:solidFill>
                <a:latin typeface="Inter" pitchFamily="34" charset="0"/>
                <a:ea typeface="Inter" pitchFamily="34" charset="-122"/>
                <a:cs typeface="Inter" pitchFamily="34" charset="-120"/>
              </a:rPr>
              <a:t>Existing tools are dashboards </a:t>
            </a:r>
            <a:pPr indent="0" marL="0">
              <a:lnSpc>
                <a:spcPct val="130000"/>
              </a:lnSpc>
              <a:buNone/>
            </a:pPr>
            <a:r>
              <a:rPr lang="en-US" sz="1400" b="1" dirty="0">
                <a:solidFill>
                  <a:srgbClr val="FAFAF8"/>
                </a:solidFill>
                <a:latin typeface="Inter" pitchFamily="34" charset="0"/>
                <a:ea typeface="Inter" pitchFamily="34" charset="-122"/>
                <a:cs typeface="Inter" pitchFamily="34" charset="-120"/>
              </a:rPr>
              <a:t>or</a:t>
            </a:r>
            <a:pPr indent="0" marL="0">
              <a:lnSpc>
                <a:spcPct val="130000"/>
              </a:lnSpc>
              <a:buNone/>
            </a:pPr>
            <a:r>
              <a:rPr lang="en-US" sz="1400" dirty="0">
                <a:solidFill>
                  <a:srgbClr val="8B95A5"/>
                </a:solidFill>
                <a:latin typeface="Inter" pitchFamily="34" charset="0"/>
                <a:ea typeface="Inter" pitchFamily="34" charset="-122"/>
                <a:cs typeface="Inter" pitchFamily="34" charset="-120"/>
              </a:rPr>
              <a:t> chatbots. Never both. BestPath combines </a:t>
            </a:r>
            <a:pPr indent="0" marL="0">
              <a:lnSpc>
                <a:spcPct val="130000"/>
              </a:lnSpc>
              <a:buNone/>
            </a:pPr>
            <a:r>
              <a:rPr lang="en-US" sz="1400" b="1" dirty="0">
                <a:solidFill>
                  <a:srgbClr val="0FAFAF"/>
                </a:solidFill>
                <a:latin typeface="Inter" pitchFamily="34" charset="0"/>
                <a:ea typeface="Inter" pitchFamily="34" charset="-122"/>
                <a:cs typeface="Inter" pitchFamily="34" charset="-120"/>
              </a:rPr>
              <a:t>proactive risk triage</a:t>
            </a:r>
            <a:pPr indent="0" marL="0">
              <a:lnSpc>
                <a:spcPct val="130000"/>
              </a:lnSpc>
              <a:buNone/>
            </a:pPr>
            <a:r>
              <a:rPr lang="en-US" sz="1400" dirty="0">
                <a:solidFill>
                  <a:srgbClr val="8B95A5"/>
                </a:solidFill>
                <a:latin typeface="Inter" pitchFamily="34" charset="0"/>
                <a:ea typeface="Inter" pitchFamily="34" charset="-122"/>
                <a:cs typeface="Inter" pitchFamily="34" charset="-120"/>
              </a:rPr>
              <a:t> with </a:t>
            </a:r>
            <a:pPr indent="0" marL="0">
              <a:lnSpc>
                <a:spcPct val="130000"/>
              </a:lnSpc>
              <a:buNone/>
            </a:pPr>
            <a:r>
              <a:rPr lang="en-US" sz="1400" b="1" dirty="0">
                <a:solidFill>
                  <a:srgbClr val="0FAFAF"/>
                </a:solidFill>
                <a:latin typeface="Inter" pitchFamily="34" charset="0"/>
                <a:ea typeface="Inter" pitchFamily="34" charset="-122"/>
                <a:cs typeface="Inter" pitchFamily="34" charset="-120"/>
              </a:rPr>
              <a:t>generative clinical UI</a:t>
            </a:r>
            <a:pPr indent="0" marL="0">
              <a:lnSpc>
                <a:spcPct val="130000"/>
              </a:lnSpc>
              <a:buNone/>
            </a:pPr>
            <a:r>
              <a:rPr lang="en-US" sz="1400" dirty="0">
                <a:solidFill>
                  <a:srgbClr val="8B95A5"/>
                </a:solidFill>
                <a:latin typeface="Inter" pitchFamily="34" charset="0"/>
                <a:ea typeface="Inter" pitchFamily="34" charset="-122"/>
                <a:cs typeface="Inter" pitchFamily="34" charset="-120"/>
              </a:rPr>
              <a:t>. BC is investing </a:t>
            </a:r>
            <a:pPr indent="0" marL="0">
              <a:lnSpc>
                <a:spcPct val="130000"/>
              </a:lnSpc>
              <a:buNone/>
            </a:pPr>
            <a:r>
              <a:rPr lang="en-US" sz="1400" b="1" dirty="0">
                <a:solidFill>
                  <a:srgbClr val="FAFAF8"/>
                </a:solidFill>
                <a:latin typeface="Inter" pitchFamily="34" charset="0"/>
                <a:ea typeface="Inter" pitchFamily="34" charset="-122"/>
                <a:cs typeface="Inter" pitchFamily="34" charset="-120"/>
              </a:rPr>
              <a:t>$2.8B</a:t>
            </a:r>
            <a:pPr indent="0" marL="0">
              <a:lnSpc>
                <a:spcPct val="130000"/>
              </a:lnSpc>
              <a:buNone/>
            </a:pPr>
            <a:r>
              <a:rPr lang="en-US" sz="1400" dirty="0">
                <a:solidFill>
                  <a:srgbClr val="8B95A5"/>
                </a:solidFill>
                <a:latin typeface="Inter" pitchFamily="34" charset="0"/>
                <a:ea typeface="Inter" pitchFamily="34" charset="-122"/>
                <a:cs typeface="Inter" pitchFamily="34" charset="-120"/>
              </a:rPr>
              <a:t> in healthcare over three years — this is where it should go.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0"/>
            <a:ext cx="11247120" cy="1005840"/>
          </a:xfrm>
          <a:prstGeom prst="rect">
            <a:avLst/>
          </a:prstGeom>
          <a:noFill/>
          <a:ln/>
        </p:spPr>
        <p:txBody>
          <a:bodyPr wrap="square" rtlCol="0" anchor="ctr"/>
          <a:lstStyle/>
          <a:p>
            <a:pPr algn="ctr" indent="0" marL="0">
              <a:buNone/>
            </a:pPr>
            <a:r>
              <a:rPr lang="en-US" sz="6000" b="1" dirty="0">
                <a:solidFill>
                  <a:srgbClr val="FAFAF8"/>
                </a:solidFill>
                <a:latin typeface="Inter" pitchFamily="34" charset="0"/>
                <a:ea typeface="Inter" pitchFamily="34" charset="-122"/>
                <a:cs typeface="Inter" pitchFamily="34" charset="-120"/>
              </a:rPr>
              <a:t>Best</a:t>
            </a:r>
            <a:pPr algn="ctr" indent="0" marL="0">
              <a:buNone/>
            </a:pPr>
            <a:r>
              <a:rPr lang="en-US" sz="6000" b="1" dirty="0">
                <a:solidFill>
                  <a:srgbClr val="0FAFAF"/>
                </a:solidFill>
                <a:latin typeface="Inter" pitchFamily="34" charset="0"/>
                <a:ea typeface="Inter" pitchFamily="34" charset="-122"/>
                <a:cs typeface="Inter" pitchFamily="34" charset="-120"/>
              </a:rPr>
              <a:t>Path</a:t>
            </a:r>
            <a:endParaRPr lang="en-US" sz="6000" dirty="0"/>
          </a:p>
        </p:txBody>
      </p:sp>
      <p:sp>
        <p:nvSpPr>
          <p:cNvPr id="3" name="Shape 1"/>
          <p:cNvSpPr/>
          <p:nvPr/>
        </p:nvSpPr>
        <p:spPr>
          <a:xfrm>
            <a:off x="5212080" y="2514600"/>
            <a:ext cx="1737360" cy="36576"/>
          </a:xfrm>
          <a:prstGeom prst="rect">
            <a:avLst/>
          </a:prstGeom>
          <a:solidFill>
            <a:srgbClr val="0B8585"/>
          </a:solidFill>
          <a:ln/>
        </p:spPr>
      </p:sp>
      <p:sp>
        <p:nvSpPr>
          <p:cNvPr id="4" name="Text 2"/>
          <p:cNvSpPr/>
          <p:nvPr/>
        </p:nvSpPr>
        <p:spPr>
          <a:xfrm>
            <a:off x="457200" y="2926080"/>
            <a:ext cx="11247120" cy="457200"/>
          </a:xfrm>
          <a:prstGeom prst="rect">
            <a:avLst/>
          </a:prstGeom>
          <a:noFill/>
          <a:ln/>
        </p:spPr>
        <p:txBody>
          <a:bodyPr wrap="square" rtlCol="0" anchor="ctr"/>
          <a:lstStyle/>
          <a:p>
            <a:pPr algn="ctr" indent="0" marL="0">
              <a:buNone/>
            </a:pPr>
            <a:r>
              <a:rPr lang="en-US" sz="1800" dirty="0">
                <a:solidFill>
                  <a:srgbClr val="8B95A5"/>
                </a:solidFill>
                <a:latin typeface="Inter" pitchFamily="34" charset="0"/>
                <a:ea typeface="Inter" pitchFamily="34" charset="-122"/>
                <a:cs typeface="Inter" pitchFamily="34" charset="-120"/>
              </a:rPr>
              <a:t>4,620 people died on BC waitlists last year.</a:t>
            </a:r>
            <a:endParaRPr lang="en-US" sz="1800" dirty="0"/>
          </a:p>
        </p:txBody>
      </p:sp>
      <p:sp>
        <p:nvSpPr>
          <p:cNvPr id="5" name="Text 3"/>
          <p:cNvSpPr/>
          <p:nvPr/>
        </p:nvSpPr>
        <p:spPr>
          <a:xfrm>
            <a:off x="457200" y="3474720"/>
            <a:ext cx="11247120" cy="1097280"/>
          </a:xfrm>
          <a:prstGeom prst="rect">
            <a:avLst/>
          </a:prstGeom>
          <a:noFill/>
          <a:ln/>
        </p:spPr>
        <p:txBody>
          <a:bodyPr wrap="square" rtlCol="0" anchor="ctr"/>
          <a:lstStyle/>
          <a:p>
            <a:pPr algn="ctr" indent="0" marL="0">
              <a:lnSpc>
                <a:spcPct val="140000"/>
              </a:lnSpc>
              <a:buNone/>
            </a:pPr>
            <a:r>
              <a:rPr lang="en-US" sz="2400" b="1" dirty="0">
                <a:solidFill>
                  <a:srgbClr val="FAFAF8"/>
                </a:solidFill>
                <a:latin typeface="Inter" pitchFamily="34" charset="0"/>
                <a:ea typeface="Inter" pitchFamily="34" charset="-122"/>
                <a:cs typeface="Inter" pitchFamily="34" charset="-120"/>
              </a:rPr>
              <a:t>BestPath makes sure the next one gets flagged
</a:t>
            </a:r>
            <a:pPr algn="ctr" indent="0" marL="0">
              <a:buNone/>
            </a:pPr>
            <a:r>
              <a:rPr lang="en-US" sz="2400" b="1" dirty="0">
                <a:solidFill>
                  <a:srgbClr val="0FAFAF"/>
                </a:solidFill>
                <a:latin typeface="Inter" pitchFamily="34" charset="0"/>
                <a:ea typeface="Inter" pitchFamily="34" charset="-122"/>
                <a:cs typeface="Inter" pitchFamily="34" charset="-120"/>
              </a:rPr>
              <a:t>before</a:t>
            </a:r>
            <a:pPr algn="ctr" indent="0" marL="0">
              <a:buNone/>
            </a:pPr>
            <a:r>
              <a:rPr lang="en-US" sz="2400" b="1" dirty="0">
                <a:solidFill>
                  <a:srgbClr val="FAFAF8"/>
                </a:solidFill>
                <a:latin typeface="Inter" pitchFamily="34" charset="0"/>
                <a:ea typeface="Inter" pitchFamily="34" charset="-122"/>
                <a:cs typeface="Inter" pitchFamily="34" charset="-120"/>
              </a:rPr>
              <a:t> it's too late.</a:t>
            </a:r>
            <a:endParaRPr lang="en-US" sz="2400" dirty="0"/>
          </a:p>
        </p:txBody>
      </p:sp>
      <p:sp>
        <p:nvSpPr>
          <p:cNvPr id="6" name="Shape 4"/>
          <p:cNvSpPr/>
          <p:nvPr/>
        </p:nvSpPr>
        <p:spPr>
          <a:xfrm>
            <a:off x="3657600" y="5029200"/>
            <a:ext cx="4846320" cy="18288"/>
          </a:xfrm>
          <a:prstGeom prst="rect">
            <a:avLst/>
          </a:prstGeom>
          <a:solidFill>
            <a:srgbClr val="0B8585">
              <a:alpha val="30000"/>
            </a:srgbClr>
          </a:solidFill>
          <a:ln/>
        </p:spPr>
      </p:sp>
      <p:sp>
        <p:nvSpPr>
          <p:cNvPr id="7" name="Text 5"/>
          <p:cNvSpPr/>
          <p:nvPr/>
        </p:nvSpPr>
        <p:spPr>
          <a:xfrm>
            <a:off x="457200" y="5212080"/>
            <a:ext cx="11247120" cy="640080"/>
          </a:xfrm>
          <a:prstGeom prst="rect">
            <a:avLst/>
          </a:prstGeom>
          <a:noFill/>
          <a:ln/>
        </p:spPr>
        <p:txBody>
          <a:bodyPr wrap="square" rtlCol="0" anchor="ctr"/>
          <a:lstStyle/>
          <a:p>
            <a:pPr algn="ctr" indent="0" marL="0">
              <a:buNone/>
            </a:pPr>
            <a:r>
              <a:rPr lang="en-US" sz="1300" b="1" dirty="0">
                <a:solidFill>
                  <a:srgbClr val="FAFAF8"/>
                </a:solidFill>
                <a:latin typeface="Inter" pitchFamily="34" charset="0"/>
                <a:ea typeface="Inter" pitchFamily="34" charset="-122"/>
                <a:cs typeface="Inter" pitchFamily="34" charset="-120"/>
              </a:rPr>
              <a:t>Capital Reasoning</a:t>
            </a:r>
            <a:pPr algn="ctr" indent="0" marL="0">
              <a:buNone/>
            </a:pPr>
            <a:endParaRPr lang="en-US" sz="1300" dirty="0"/>
          </a:p>
          <a:p>
            <a:pPr algn="ctr" indent="0" marL="0">
              <a:buNone/>
            </a:pPr>
            <a:r>
              <a:rPr lang="en-US" sz="1100" dirty="0">
                <a:solidFill>
                  <a:srgbClr val="8B95A5"/>
                </a:solidFill>
                <a:latin typeface="Inter" pitchFamily="34" charset="0"/>
                <a:ea typeface="Inter" pitchFamily="34" charset="-122"/>
                <a:cs typeface="Inter" pitchFamily="34" charset="-120"/>
              </a:rPr>
              <a:t>Clinical AI Track  ·  BuildersVault.ai  ·  March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BestPath — Proactive Care Intelligence</dc:title>
  <dc:subject>BuildersVault.ai Healthcare &amp; AI Hackathon — March 2026</dc:subject>
  <dc:creator>Capital Reasoning</dc:creator>
  <cp:lastModifiedBy>Capital Reasoning</cp:lastModifiedBy>
  <cp:revision>1</cp:revision>
  <dcterms:created xsi:type="dcterms:W3CDTF">2026-03-28T06:14:10Z</dcterms:created>
  <dcterms:modified xsi:type="dcterms:W3CDTF">2026-03-28T06:14:10Z</dcterms:modified>
</cp:coreProperties>
</file>